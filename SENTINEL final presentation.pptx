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Arial MT Pro Bold" panose="020B0604020202020204" charset="0"/>
      <p:regular r:id="rId23"/>
    </p:embeddedFont>
    <p:embeddedFont>
      <p:font typeface="Century Gothic Paneuropean Bold" panose="020B0604020202020204" charset="0"/>
      <p:regular r:id="rId24"/>
    </p:embeddedFont>
    <p:embeddedFont>
      <p:font typeface="Open Sans Bold" panose="020B0604020202020204" charset="0"/>
      <p:regular r:id="rId25"/>
    </p:embeddedFont>
    <p:embeddedFont>
      <p:font typeface="TT Chocolates Bold" panose="020B0604020202020204" charset="0"/>
      <p:regular r:id="rId26"/>
    </p:embeddedFont>
    <p:embeddedFont>
      <p:font typeface="TT Fors Bold" panose="020B0604020202020204" charset="0"/>
      <p:regular r:id="rId27"/>
    </p:embeddedFont>
    <p:embeddedFont>
      <p:font typeface="TT Hoves" panose="020B0604020202020204" charset="0"/>
      <p:regular r:id="rId28"/>
    </p:embeddedFont>
    <p:embeddedFont>
      <p:font typeface="TT Hoves Bold" panose="020B0604020202020204" charset="0"/>
      <p:regular r:id="rId29"/>
    </p:embeddedFont>
    <p:embeddedFont>
      <p:font typeface="TT Interphases" panose="020B0604020202020204" charset="0"/>
      <p:regular r:id="rId30"/>
    </p:embeddedFont>
    <p:embeddedFont>
      <p:font typeface="TT Interphases Bold" panose="020B0604020202020204" charset="0"/>
      <p:regular r:id="rId31"/>
    </p:embeddedFont>
    <p:embeddedFont>
      <p:font typeface="TT Interphases Italics" panose="020B060402020202020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8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"How confident are you in this diagnosis?" </a:t>
            </a:r>
          </a:p>
          <a:p>
            <a:r>
              <a:rPr lang="en-US"/>
              <a:t>What is a simple routine exchange between two doctors, for the patient could mean months of waiting or uncertainty.</a:t>
            </a:r>
          </a:p>
          <a:p>
            <a:endParaRPr lang="en-US"/>
          </a:p>
          <a:p>
            <a:r>
              <a:rPr lang="en-US"/>
              <a:t>In ALS - Amiotrophic Lateral Scleroris- diagnosis, the stakes couldn't be higher, but the problem isn't neurologist expertise. The problem is the signal itself.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SEPs are electrical signals that show how efficiently information travels from the body to the brain.</a:t>
            </a:r>
          </a:p>
          <a:p>
            <a:r>
              <a:rPr lang="en-US"/>
              <a:t>While they carry crucial diagnostic information for ALS detection, their interpretation is far from straightforward.</a:t>
            </a:r>
          </a:p>
          <a:p>
            <a:endParaRPr lang="en-US"/>
          </a:p>
          <a:p>
            <a:r>
              <a:rPr lang="en-US"/>
              <a:t>Neurologists face:</a:t>
            </a:r>
          </a:p>
          <a:p>
            <a:r>
              <a:rPr lang="en-US"/>
              <a:t>elencare problemi seps</a:t>
            </a:r>
          </a:p>
          <a:p>
            <a:endParaRPr lang="en-US"/>
          </a:p>
          <a:p>
            <a:r>
              <a:rPr lang="en-US"/>
              <a:t>Result (problemi diagnosi sla): Inconsistent diagnoses, missed cases, and diagnostic uncertainty when certainty is medically necessary.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"What if we could replace subjective interpretation with objective, consistent feature extraction? And what if ML could bring certainty back into ALS diagnosis?"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SEPs are electrical signals that show how efficiently information travels from the body to the brain.</a:t>
            </a:r>
          </a:p>
          <a:p>
            <a:r>
              <a:rPr lang="en-US"/>
              <a:t>While they carry crucial diagnostic information for ALS detection, their interpretation is far from straightforward.</a:t>
            </a:r>
          </a:p>
          <a:p>
            <a:endParaRPr lang="en-US"/>
          </a:p>
          <a:p>
            <a:r>
              <a:rPr lang="en-US"/>
              <a:t>Neurologists face:</a:t>
            </a:r>
          </a:p>
          <a:p>
            <a:r>
              <a:rPr lang="en-US"/>
              <a:t>elencare problemi seps</a:t>
            </a:r>
          </a:p>
          <a:p>
            <a:endParaRPr lang="en-US"/>
          </a:p>
          <a:p>
            <a:r>
              <a:rPr lang="en-US"/>
              <a:t>Result (problemi diagnosi sla): Inconsistent diagnoses, missed cases, and diagnostic uncertainty when certainty is medically necessary.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"What if we could replace subjective interpretation with objective, consistent feature extraction? And what if ML could bring certainty back into ALS diagnosis?"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SEPs are electrical signals that show how efficiently information travels from the body to the brain.</a:t>
            </a:r>
          </a:p>
          <a:p>
            <a:r>
              <a:rPr lang="en-US"/>
              <a:t>While they carry crucial diagnostic information for ALS detection, their interpretation is far from straightforward.</a:t>
            </a:r>
          </a:p>
          <a:p>
            <a:endParaRPr lang="en-US"/>
          </a:p>
          <a:p>
            <a:r>
              <a:rPr lang="en-US"/>
              <a:t>Neurologists face:</a:t>
            </a:r>
          </a:p>
          <a:p>
            <a:r>
              <a:rPr lang="en-US"/>
              <a:t>elencare problemi seps</a:t>
            </a:r>
          </a:p>
          <a:p>
            <a:endParaRPr lang="en-US"/>
          </a:p>
          <a:p>
            <a:r>
              <a:rPr lang="en-US"/>
              <a:t>Result (problemi diagnosi sla): Inconsistent diagnoses, missed cases, and diagnostic uncertainty when certainty is medically necessary.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"What if we could replace subjective interpretation with objective, consistent feature extraction? And what if ML could bring certainty back into ALS diagnosis?"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SEPs are electrical signals that show how efficiently information travels from the body to the brain.</a:t>
            </a:r>
          </a:p>
          <a:p>
            <a:r>
              <a:rPr lang="en-US"/>
              <a:t>While they carry crucial diagnostic information for ALS detection, their interpretation is far from straightforward.</a:t>
            </a:r>
          </a:p>
          <a:p>
            <a:endParaRPr lang="en-US"/>
          </a:p>
          <a:p>
            <a:r>
              <a:rPr lang="en-US"/>
              <a:t>Neurologists face:</a:t>
            </a:r>
          </a:p>
          <a:p>
            <a:r>
              <a:rPr lang="en-US"/>
              <a:t>elencare problemi seps</a:t>
            </a:r>
          </a:p>
          <a:p>
            <a:endParaRPr lang="en-US"/>
          </a:p>
          <a:p>
            <a:r>
              <a:rPr lang="en-US"/>
              <a:t>Result (problemi diagnosi sla): Inconsistent diagnoses, missed cases, and diagnostic uncertainty when certainty is medically necessary.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"What if we could replace subjective interpretation with objective, consistent feature extraction? And what if ML could bring certainty back into ALS diagnosis?"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SEPs are electrical signals that show how efficiently information travels from the body to the brain.</a:t>
            </a:r>
          </a:p>
          <a:p>
            <a:r>
              <a:rPr lang="en-US"/>
              <a:t>While they carry crucial diagnostic information for ALS detection, their interpretation is far from straightforward.</a:t>
            </a:r>
          </a:p>
          <a:p>
            <a:endParaRPr lang="en-US"/>
          </a:p>
          <a:p>
            <a:r>
              <a:rPr lang="en-US"/>
              <a:t>Neurologists face:</a:t>
            </a:r>
          </a:p>
          <a:p>
            <a:r>
              <a:rPr lang="en-US"/>
              <a:t>elencare problemi seps</a:t>
            </a:r>
          </a:p>
          <a:p>
            <a:endParaRPr lang="en-US"/>
          </a:p>
          <a:p>
            <a:r>
              <a:rPr lang="en-US"/>
              <a:t>Result (problemi diagnosi sla): Inconsistent diagnoses, missed cases, and diagnostic uncertainty when certainty is medically necessary.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"What if we could replace subjective interpretation with objective, consistent feature extraction? And what if ML could bring certainty back into ALS diagnosis?"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Introducing ALSense — a platform designed to transform complex clinical data into clear, actionable insights.</a:t>
            </a:r>
          </a:p>
          <a:p>
            <a:endParaRPr lang="en-US"/>
          </a:p>
          <a:p>
            <a:r>
              <a:rPr lang="en-US"/>
              <a:t> ALSense was built with clinicians in mind: simple, intuitive, and immediately usable.</a:t>
            </a:r>
          </a:p>
          <a:p>
            <a:r>
              <a:rPr lang="en-US"/>
              <a:t>The user can upload data in just a few steps, without manual preprocessing or subjective interpretation. </a:t>
            </a:r>
          </a:p>
          <a:p>
            <a:endParaRPr lang="en-US"/>
          </a:p>
          <a:p>
            <a:r>
              <a:rPr lang="en-US"/>
              <a:t>From that moment on, the system takes over — analyzing the signal automatically and objectively. This is where ALSense begins to differentiate itself: by removing variability and uncertainty from the very first interaction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Introducing ALSense — a platform designed to transform complex clinical data into clear, actionable insights.</a:t>
            </a:r>
          </a:p>
          <a:p>
            <a:endParaRPr lang="en-US"/>
          </a:p>
          <a:p>
            <a:r>
              <a:rPr lang="en-US"/>
              <a:t> ALSense was built with clinicians in mind: simple, intuitive, and immediately usable.</a:t>
            </a:r>
          </a:p>
          <a:p>
            <a:r>
              <a:rPr lang="en-US"/>
              <a:t>The user can upload data in just a few steps, without manual preprocessing or subjective interpretation. </a:t>
            </a:r>
          </a:p>
          <a:p>
            <a:endParaRPr lang="en-US"/>
          </a:p>
          <a:p>
            <a:r>
              <a:rPr lang="en-US"/>
              <a:t>From that moment on, the system takes over — analyzing the signal automatically and objectively. This is where ALSense begins to differentiate itself: by removing variability and uncertainty from the very first interaction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Introducing ALSense — a platform designed to transform complex clinical data into clear, actionable insights.</a:t>
            </a:r>
          </a:p>
          <a:p>
            <a:endParaRPr lang="en-US"/>
          </a:p>
          <a:p>
            <a:r>
              <a:rPr lang="en-US"/>
              <a:t> ALSense was built with clinicians in mind: simple, intuitive, and immediately usable.</a:t>
            </a:r>
          </a:p>
          <a:p>
            <a:r>
              <a:rPr lang="en-US"/>
              <a:t>The user can upload data in just a few steps, without manual preprocessing or subjective interpretation. </a:t>
            </a:r>
          </a:p>
          <a:p>
            <a:endParaRPr lang="en-US"/>
          </a:p>
          <a:p>
            <a:r>
              <a:rPr lang="en-US"/>
              <a:t>From that moment on, the system takes over — analyzing the signal automatically and objectively. This is where ALSense begins to differentiate itself: by removing variability and uncertainty from the very first interaction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Introducing ALSense — a platform designed to transform complex clinical data into clear, actionable insights.</a:t>
            </a:r>
          </a:p>
          <a:p>
            <a:endParaRPr lang="en-US"/>
          </a:p>
          <a:p>
            <a:r>
              <a:rPr lang="en-US"/>
              <a:t> ALSense was built with clinicians in mind: simple, intuitive, and immediately usable.</a:t>
            </a:r>
          </a:p>
          <a:p>
            <a:r>
              <a:rPr lang="en-US"/>
              <a:t>The user can upload data in just a few steps, without manual preprocessing or subjective interpretation. </a:t>
            </a:r>
          </a:p>
          <a:p>
            <a:endParaRPr lang="en-US"/>
          </a:p>
          <a:p>
            <a:r>
              <a:rPr lang="en-US"/>
              <a:t>From that moment on, the system takes over — analyzing the signal automatically and objectively. This is where ALSense begins to differentiate itself: by removing variability and uncertainty from the very first interaction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Introducing ALSense — a platform designed to transform complex clinical data into clear, actionable insights.</a:t>
            </a:r>
          </a:p>
          <a:p>
            <a:endParaRPr lang="en-US"/>
          </a:p>
          <a:p>
            <a:r>
              <a:rPr lang="en-US"/>
              <a:t> ALSense was built with clinicians in mind: simple, intuitive, and immediately usable.</a:t>
            </a:r>
          </a:p>
          <a:p>
            <a:r>
              <a:rPr lang="en-US"/>
              <a:t>The user can upload data in just a few steps, without manual preprocessing or subjective interpretation. </a:t>
            </a:r>
          </a:p>
          <a:p>
            <a:endParaRPr lang="en-US"/>
          </a:p>
          <a:p>
            <a:r>
              <a:rPr lang="en-US"/>
              <a:t>From that moment on, the system takes over — analyzing the signal automatically and objectively. This is where ALSense begins to differentiate itself: by removing variability and uncertainty from the very first interaction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Introducing ALSense — a platform designed to transform complex clinical data into clear, actionable insights.</a:t>
            </a:r>
          </a:p>
          <a:p>
            <a:endParaRPr lang="en-US"/>
          </a:p>
          <a:p>
            <a:r>
              <a:rPr lang="en-US"/>
              <a:t> ALSense was built with clinicians in mind: simple, intuitive, and immediately usable.</a:t>
            </a:r>
          </a:p>
          <a:p>
            <a:r>
              <a:rPr lang="en-US"/>
              <a:t>The user can upload data in just a few steps, without manual preprocessing or subjective interpretation. </a:t>
            </a:r>
          </a:p>
          <a:p>
            <a:endParaRPr lang="en-US"/>
          </a:p>
          <a:p>
            <a:r>
              <a:rPr lang="en-US"/>
              <a:t>From that moment on, the system takes over — analyzing the signal automatically and objectively. This is where ALSense begins to differentiate itself: by removing variability and uncertainty from the very first interaction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Introducing ALSense — a platform designed to transform complex clinical data into clear, actionable insights.</a:t>
            </a:r>
          </a:p>
          <a:p>
            <a:endParaRPr lang="en-US"/>
          </a:p>
          <a:p>
            <a:r>
              <a:rPr lang="en-US"/>
              <a:t> ALSense was built with clinicians in mind: simple, intuitive, and immediately usable.</a:t>
            </a:r>
          </a:p>
          <a:p>
            <a:r>
              <a:rPr lang="en-US"/>
              <a:t>The user can upload data in just a few steps, without manual preprocessing or subjective interpretation. </a:t>
            </a:r>
          </a:p>
          <a:p>
            <a:endParaRPr lang="en-US"/>
          </a:p>
          <a:p>
            <a:r>
              <a:rPr lang="en-US"/>
              <a:t>From that moment on, the system takes over — analyzing the signal automatically and objectively. This is where ALSense begins to differentiate itself: by removing variability and uncertainty from the very first interaction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Introducing ALSense — a platform designed to transform complex clinical data into clear, actionable insights.</a:t>
            </a:r>
          </a:p>
          <a:p>
            <a:endParaRPr lang="en-US"/>
          </a:p>
          <a:p>
            <a:r>
              <a:rPr lang="en-US"/>
              <a:t> ALSense was built with clinicians in mind: simple, intuitive, and immediately usable.</a:t>
            </a:r>
          </a:p>
          <a:p>
            <a:r>
              <a:rPr lang="en-US"/>
              <a:t>The user can upload data in just a few steps, without manual preprocessing or subjective interpretation. </a:t>
            </a:r>
          </a:p>
          <a:p>
            <a:endParaRPr lang="en-US"/>
          </a:p>
          <a:p>
            <a:r>
              <a:rPr lang="en-US"/>
              <a:t>From that moment on, the system takes over — analyzing the signal automatically and objectively. This is where ALSense begins to differentiate itself: by removing variability and uncertainty from the very first interaction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Introducing ALSense — a platform designed to transform complex clinical data into clear, actionable insights.</a:t>
            </a:r>
          </a:p>
          <a:p>
            <a:endParaRPr lang="en-US"/>
          </a:p>
          <a:p>
            <a:r>
              <a:rPr lang="en-US"/>
              <a:t> ALSense was built with clinicians in mind: simple, intuitive, and immediately usable.</a:t>
            </a:r>
          </a:p>
          <a:p>
            <a:r>
              <a:rPr lang="en-US"/>
              <a:t>The user can upload data in just a few steps, without manual preprocessing or subjective interpretation. </a:t>
            </a:r>
          </a:p>
          <a:p>
            <a:endParaRPr lang="en-US"/>
          </a:p>
          <a:p>
            <a:r>
              <a:rPr lang="en-US"/>
              <a:t>From that moment on, the system takes over — analyzing the signal automatically and objectively. This is where ALSense begins to differentiate itself: by removing variability and uncertainty from the very first interaction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Introducing ALSense — a platform designed to transform complex clinical data into clear, actionable insights.</a:t>
            </a:r>
          </a:p>
          <a:p>
            <a:endParaRPr lang="en-US"/>
          </a:p>
          <a:p>
            <a:r>
              <a:rPr lang="en-US"/>
              <a:t> ALSense was built with clinicians in mind: simple, intuitive, and immediately usable.</a:t>
            </a:r>
          </a:p>
          <a:p>
            <a:r>
              <a:rPr lang="en-US"/>
              <a:t>The user can upload data in just a few steps, without manual preprocessing or subjective interpretation. </a:t>
            </a:r>
          </a:p>
          <a:p>
            <a:endParaRPr lang="en-US"/>
          </a:p>
          <a:p>
            <a:r>
              <a:rPr lang="en-US"/>
              <a:t>From that moment on, the system takes over — analyzing the signal automatically and objectively. This is where ALSense begins to differentiate itself: by removing variability and uncertainty from the very first interaction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Introducing ALSense — a platform designed to transform complex clinical data into clear, actionable insights.</a:t>
            </a:r>
          </a:p>
          <a:p>
            <a:endParaRPr lang="en-US"/>
          </a:p>
          <a:p>
            <a:r>
              <a:rPr lang="en-US"/>
              <a:t> ALSense was built with clinicians in mind: simple, intuitive, and immediately usable.</a:t>
            </a:r>
          </a:p>
          <a:p>
            <a:r>
              <a:rPr lang="en-US"/>
              <a:t>The user can upload data in just a few steps, without manual preprocessing or subjective interpretation. </a:t>
            </a:r>
          </a:p>
          <a:p>
            <a:endParaRPr lang="en-US"/>
          </a:p>
          <a:p>
            <a:r>
              <a:rPr lang="en-US"/>
              <a:t>From that moment on, the system takes over — analyzing the signal automatically and objectively. This is where ALSense begins to differentiate itself: by removing variability and uncertainty from the very first interaction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Introducing ALSense — a platform designed to transform complex clinical data into clear, actionable insights.</a:t>
            </a:r>
          </a:p>
          <a:p>
            <a:endParaRPr lang="en-US"/>
          </a:p>
          <a:p>
            <a:r>
              <a:rPr lang="en-US"/>
              <a:t> ALSense was built with clinicians in mind: simple, intuitive, and immediately usable.</a:t>
            </a:r>
          </a:p>
          <a:p>
            <a:r>
              <a:rPr lang="en-US"/>
              <a:t>The user can upload data in just a few steps, without manual preprocessing or subjective interpretation. </a:t>
            </a:r>
          </a:p>
          <a:p>
            <a:endParaRPr lang="en-US"/>
          </a:p>
          <a:p>
            <a:r>
              <a:rPr lang="en-US"/>
              <a:t>From that moment on, the system takes over — analyzing the signal automatically and objectively. This is where ALSense begins to differentiate itself: by removing variability and uncertainty from the very first interaction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Introducing ALSense — a platform designed to transform complex clinical data into clear, actionable insights.</a:t>
            </a:r>
          </a:p>
          <a:p>
            <a:endParaRPr lang="en-US"/>
          </a:p>
          <a:p>
            <a:r>
              <a:rPr lang="en-US"/>
              <a:t> ALSense was built with clinicians in mind: simple, intuitive, and immediately usable.</a:t>
            </a:r>
          </a:p>
          <a:p>
            <a:r>
              <a:rPr lang="en-US"/>
              <a:t>The user can upload data in just a few steps, without manual preprocessing or subjective interpretation. </a:t>
            </a:r>
          </a:p>
          <a:p>
            <a:endParaRPr lang="en-US"/>
          </a:p>
          <a:p>
            <a:r>
              <a:rPr lang="en-US"/>
              <a:t>From that moment on, the system takes over — analyzing the signal automatically and objectively. This is where ALSense begins to differentiate itself: by removing variability and uncertainty from the very first interaction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"How confident are you in this diagnosis?" </a:t>
            </a:r>
          </a:p>
          <a:p>
            <a:r>
              <a:rPr lang="en-US"/>
              <a:t>What is a simple routine exchange between two doctors, for the patient could mean months of waiting or uncertainty.</a:t>
            </a:r>
          </a:p>
          <a:p>
            <a:endParaRPr lang="en-US"/>
          </a:p>
          <a:p>
            <a:r>
              <a:rPr lang="en-US"/>
              <a:t>In ALS - Amiotrophic Lateral Scleroris- diagnosis, the stakes couldn't be higher, but the problem isn't neurologist expertise. The problem is the signal itself.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.jpe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jpeg"/><Relationship Id="rId9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4.jpe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11" Type="http://schemas.openxmlformats.org/officeDocument/2006/relationships/image" Target="../media/image20.png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image" Target="../media/image14.svg"/><Relationship Id="rId9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e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1.jpe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1.jpeg"/><Relationship Id="rId7" Type="http://schemas.openxmlformats.org/officeDocument/2006/relationships/image" Target="../media/image33.sv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svg"/><Relationship Id="rId11" Type="http://schemas.openxmlformats.org/officeDocument/2006/relationships/image" Target="../media/image37.jpeg"/><Relationship Id="rId5" Type="http://schemas.openxmlformats.org/officeDocument/2006/relationships/image" Target="../media/image31.svg"/><Relationship Id="rId10" Type="http://schemas.openxmlformats.org/officeDocument/2006/relationships/image" Target="../media/image36.png"/><Relationship Id="rId4" Type="http://schemas.openxmlformats.org/officeDocument/2006/relationships/image" Target="../media/image30.svg"/><Relationship Id="rId9" Type="http://schemas.openxmlformats.org/officeDocument/2006/relationships/image" Target="../media/image3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svg"/><Relationship Id="rId4" Type="http://schemas.openxmlformats.org/officeDocument/2006/relationships/image" Target="../media/image2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svg"/><Relationship Id="rId5" Type="http://schemas.openxmlformats.org/officeDocument/2006/relationships/image" Target="../media/image41.svg"/><Relationship Id="rId4" Type="http://schemas.openxmlformats.org/officeDocument/2006/relationships/image" Target="../media/image4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1.jpe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4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svg"/><Relationship Id="rId5" Type="http://schemas.openxmlformats.org/officeDocument/2006/relationships/image" Target="../media/image51.svg"/><Relationship Id="rId4" Type="http://schemas.openxmlformats.org/officeDocument/2006/relationships/image" Target="../media/image50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1.jpeg"/><Relationship Id="rId7" Type="http://schemas.openxmlformats.org/officeDocument/2006/relationships/image" Target="../media/image56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55.svg"/><Relationship Id="rId4" Type="http://schemas.openxmlformats.org/officeDocument/2006/relationships/image" Target="../media/image5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svg"/><Relationship Id="rId4" Type="http://schemas.openxmlformats.org/officeDocument/2006/relationships/image" Target="../media/image58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60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8349904" cy="5394794"/>
          </a:xfrm>
          <a:custGeom>
            <a:avLst/>
            <a:gdLst/>
            <a:ahLst/>
            <a:cxnLst/>
            <a:rect l="l" t="t" r="r" b="b"/>
            <a:pathLst>
              <a:path w="18349904" h="5394794">
                <a:moveTo>
                  <a:pt x="0" y="0"/>
                </a:moveTo>
                <a:lnTo>
                  <a:pt x="18349904" y="0"/>
                </a:lnTo>
                <a:lnTo>
                  <a:pt x="18349904" y="5394794"/>
                </a:lnTo>
                <a:lnTo>
                  <a:pt x="0" y="539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26428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1515414" y="5561548"/>
            <a:ext cx="15542263" cy="1869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27"/>
              </a:lnSpc>
            </a:pPr>
            <a:r>
              <a:rPr lang="en-US" sz="13850" b="1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SENTINEL PROJECT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781088" y="7383187"/>
            <a:ext cx="2478212" cy="772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01"/>
              </a:lnSpc>
              <a:spcBef>
                <a:spcPct val="0"/>
              </a:spcBef>
            </a:pPr>
            <a:r>
              <a:rPr lang="en-US" sz="2215" b="1" u="none" strike="noStrike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ASP</a:t>
            </a:r>
          </a:p>
          <a:p>
            <a:pPr marL="0" lvl="0" indent="0" algn="ctr">
              <a:lnSpc>
                <a:spcPts val="3101"/>
              </a:lnSpc>
              <a:spcBef>
                <a:spcPct val="0"/>
              </a:spcBef>
            </a:pPr>
            <a:r>
              <a:rPr lang="en-US" sz="2215" b="1" u="none" strike="noStrike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XXI cycle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15414" y="7392594"/>
            <a:ext cx="3139082" cy="2258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6946" lvl="1" indent="-198473" algn="l">
              <a:lnSpc>
                <a:spcPts val="2573"/>
              </a:lnSpc>
              <a:buFont typeface="Arial"/>
              <a:buChar char="•"/>
            </a:pPr>
            <a:r>
              <a:rPr lang="en-US" sz="1838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Simone Maria Mazzola</a:t>
            </a:r>
          </a:p>
          <a:p>
            <a:pPr marL="396946" lvl="1" indent="-198473" algn="l">
              <a:lnSpc>
                <a:spcPts val="2573"/>
              </a:lnSpc>
              <a:buFont typeface="Arial"/>
              <a:buChar char="•"/>
            </a:pPr>
            <a:r>
              <a:rPr lang="en-US" sz="1838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Paolo Ginefra</a:t>
            </a:r>
          </a:p>
          <a:p>
            <a:pPr marL="396946" lvl="1" indent="-198473" algn="l">
              <a:lnSpc>
                <a:spcPts val="2573"/>
              </a:lnSpc>
              <a:buFont typeface="Arial"/>
              <a:buChar char="•"/>
            </a:pPr>
            <a:r>
              <a:rPr lang="en-US" sz="1838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Matteo Gandini</a:t>
            </a:r>
          </a:p>
          <a:p>
            <a:pPr marL="396946" lvl="1" indent="-198473" algn="l">
              <a:lnSpc>
                <a:spcPts val="2573"/>
              </a:lnSpc>
              <a:buFont typeface="Arial"/>
              <a:buChar char="•"/>
            </a:pPr>
            <a:r>
              <a:rPr lang="en-US" sz="1838" b="1" u="none" strike="noStrike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Jacopo Sampò</a:t>
            </a:r>
          </a:p>
          <a:p>
            <a:pPr marL="396946" lvl="1" indent="-198473" algn="l">
              <a:lnSpc>
                <a:spcPts val="2573"/>
              </a:lnSpc>
              <a:buFont typeface="Arial"/>
              <a:buChar char="•"/>
            </a:pPr>
            <a:r>
              <a:rPr lang="en-US" sz="1838" b="1" u="none" strike="noStrike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Shahd Abdelaziz</a:t>
            </a:r>
          </a:p>
          <a:p>
            <a:pPr marL="396946" lvl="1" indent="-198473" algn="l">
              <a:lnSpc>
                <a:spcPts val="2573"/>
              </a:lnSpc>
              <a:buFont typeface="Arial"/>
              <a:buChar char="•"/>
            </a:pPr>
            <a:r>
              <a:rPr lang="en-US" sz="1838" b="1" u="none" strike="noStrike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Aronne Moltrasio</a:t>
            </a:r>
          </a:p>
          <a:p>
            <a:pPr marL="396946" lvl="1" indent="-198473" algn="l">
              <a:lnSpc>
                <a:spcPts val="2573"/>
              </a:lnSpc>
              <a:buFont typeface="Arial"/>
              <a:buChar char="•"/>
            </a:pPr>
            <a:r>
              <a:rPr lang="en-US" sz="1838" b="1" u="none" strike="noStrike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Nicolò Dalmazzo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47464" y="8040142"/>
            <a:ext cx="3139082" cy="1610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73"/>
              </a:lnSpc>
            </a:pPr>
            <a:r>
              <a:rPr lang="en-US" sz="1838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Professors:</a:t>
            </a:r>
          </a:p>
          <a:p>
            <a:pPr marL="396946" lvl="1" indent="-198473" algn="l">
              <a:lnSpc>
                <a:spcPts val="2573"/>
              </a:lnSpc>
              <a:buFont typeface="Arial"/>
              <a:buChar char="•"/>
            </a:pPr>
            <a:r>
              <a:rPr lang="en-US" sz="1838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Carlo De Michele</a:t>
            </a:r>
          </a:p>
          <a:p>
            <a:pPr marL="396946" lvl="1" indent="-198473" algn="l">
              <a:lnSpc>
                <a:spcPts val="2573"/>
              </a:lnSpc>
              <a:buFont typeface="Arial"/>
              <a:buChar char="•"/>
            </a:pPr>
            <a:r>
              <a:rPr lang="en-US" sz="1838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Alberto bianchi</a:t>
            </a:r>
          </a:p>
          <a:p>
            <a:pPr marL="396946" lvl="1" indent="-198473" algn="l">
              <a:lnSpc>
                <a:spcPts val="2573"/>
              </a:lnSpc>
              <a:buFont typeface="Arial"/>
              <a:buChar char="•"/>
            </a:pPr>
            <a:r>
              <a:rPr lang="en-US" sz="1838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Livio pinto</a:t>
            </a:r>
          </a:p>
          <a:p>
            <a:pPr marL="396946" lvl="1" indent="-198473" algn="l">
              <a:lnSpc>
                <a:spcPts val="2573"/>
              </a:lnSpc>
              <a:buFont typeface="Arial"/>
              <a:buChar char="•"/>
            </a:pPr>
            <a:r>
              <a:rPr lang="en-US" sz="1838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Alberto Cina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2720259" y="8625059"/>
            <a:ext cx="4709160" cy="1266482"/>
            <a:chOff x="0" y="0"/>
            <a:chExt cx="6278880" cy="1688643"/>
          </a:xfrm>
        </p:grpSpPr>
        <p:sp>
          <p:nvSpPr>
            <p:cNvPr id="9" name="Freeform 9" descr="Immagine che contiene testo  Descrizione generata automaticamente"/>
            <p:cNvSpPr/>
            <p:nvPr/>
          </p:nvSpPr>
          <p:spPr>
            <a:xfrm>
              <a:off x="0" y="0"/>
              <a:ext cx="6278880" cy="1688592"/>
            </a:xfrm>
            <a:custGeom>
              <a:avLst/>
              <a:gdLst/>
              <a:ahLst/>
              <a:cxnLst/>
              <a:rect l="l" t="t" r="r" b="b"/>
              <a:pathLst>
                <a:path w="6278880" h="1688592">
                  <a:moveTo>
                    <a:pt x="0" y="0"/>
                  </a:moveTo>
                  <a:lnTo>
                    <a:pt x="6278880" y="0"/>
                  </a:lnTo>
                  <a:lnTo>
                    <a:pt x="6278880" y="1688592"/>
                  </a:lnTo>
                  <a:lnTo>
                    <a:pt x="0" y="1688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5" r="-35" b="-3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05706"/>
            <a:ext cx="18288000" cy="1828986"/>
          </a:xfrm>
          <a:custGeom>
            <a:avLst/>
            <a:gdLst/>
            <a:ahLst/>
            <a:cxnLst/>
            <a:rect l="l" t="t" r="r" b="b"/>
            <a:pathLst>
              <a:path w="18288000" h="1828986">
                <a:moveTo>
                  <a:pt x="0" y="0"/>
                </a:moveTo>
                <a:lnTo>
                  <a:pt x="18288000" y="0"/>
                </a:lnTo>
                <a:lnTo>
                  <a:pt x="18288000" y="1828986"/>
                </a:lnTo>
                <a:lnTo>
                  <a:pt x="0" y="1828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3120" b="-443061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802626" y="111021"/>
            <a:ext cx="16218413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>
                <a:solidFill>
                  <a:srgbClr val="FBFBF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The 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514447" y="9191625"/>
            <a:ext cx="383170" cy="580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23107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96355" y="2918351"/>
            <a:ext cx="8758301" cy="4949034"/>
            <a:chOff x="0" y="-47625"/>
            <a:chExt cx="11677734" cy="6598712"/>
          </a:xfrm>
        </p:grpSpPr>
        <p:sp>
          <p:nvSpPr>
            <p:cNvPr id="6" name="TextBox 6"/>
            <p:cNvSpPr txBox="1"/>
            <p:nvPr/>
          </p:nvSpPr>
          <p:spPr>
            <a:xfrm>
              <a:off x="2372333" y="2687217"/>
              <a:ext cx="6933067" cy="5475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84"/>
                </a:lnSpc>
              </a:pPr>
              <a:r>
                <a:rPr lang="en-US" sz="2489" b="1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Destabilization </a:t>
              </a:r>
              <a:r>
                <a:rPr lang="en-US" sz="2489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of mountain slopes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733159" y="4048031"/>
              <a:ext cx="6211416" cy="1131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84"/>
                </a:lnSpc>
              </a:pPr>
              <a:r>
                <a:rPr lang="en-US" sz="2489" b="1" dirty="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Rapid mobilization</a:t>
              </a:r>
              <a:r>
                <a:rPr lang="en-US" sz="2489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of sediment volumes and </a:t>
              </a:r>
              <a:r>
                <a:rPr lang="en-US" sz="2489" b="1" dirty="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hazardous events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5777908" y="1873930"/>
              <a:ext cx="60959" cy="860915"/>
            </a:xfrm>
            <a:custGeom>
              <a:avLst/>
              <a:gdLst/>
              <a:ahLst/>
              <a:cxnLst/>
              <a:rect l="l" t="t" r="r" b="b"/>
              <a:pathLst>
                <a:path h="430457">
                  <a:moveTo>
                    <a:pt x="0" y="0"/>
                  </a:moveTo>
                  <a:lnTo>
                    <a:pt x="0" y="430457"/>
                  </a:lnTo>
                </a:path>
              </a:pathLst>
            </a:custGeom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Freeform 9"/>
            <p:cNvSpPr/>
            <p:nvPr/>
          </p:nvSpPr>
          <p:spPr>
            <a:xfrm>
              <a:off x="5777908" y="3234743"/>
              <a:ext cx="60959" cy="860915"/>
            </a:xfrm>
            <a:custGeom>
              <a:avLst/>
              <a:gdLst/>
              <a:ahLst/>
              <a:cxnLst/>
              <a:rect l="l" t="t" r="r" b="b"/>
              <a:pathLst>
                <a:path h="430457">
                  <a:moveTo>
                    <a:pt x="0" y="0"/>
                  </a:moveTo>
                  <a:lnTo>
                    <a:pt x="0" y="430458"/>
                  </a:lnTo>
                </a:path>
              </a:pathLst>
            </a:custGeom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948436" y="5179756"/>
              <a:ext cx="2890431" cy="860915"/>
            </a:xfrm>
            <a:custGeom>
              <a:avLst/>
              <a:gdLst/>
              <a:ahLst/>
              <a:cxnLst/>
              <a:rect l="l" t="t" r="r" b="b"/>
              <a:pathLst>
                <a:path w="2890431" h="860915">
                  <a:moveTo>
                    <a:pt x="2890430" y="0"/>
                  </a:moveTo>
                  <a:lnTo>
                    <a:pt x="2890430" y="192171"/>
                  </a:lnTo>
                  <a:cubicBezTo>
                    <a:pt x="2890430" y="243137"/>
                    <a:pt x="2870184" y="292017"/>
                    <a:pt x="2834145" y="328055"/>
                  </a:cubicBezTo>
                  <a:cubicBezTo>
                    <a:pt x="2798106" y="364094"/>
                    <a:pt x="2749227" y="384341"/>
                    <a:pt x="2698260" y="384341"/>
                  </a:cubicBezTo>
                  <a:lnTo>
                    <a:pt x="238287" y="384341"/>
                  </a:lnTo>
                  <a:cubicBezTo>
                    <a:pt x="106684" y="384341"/>
                    <a:pt x="0" y="491025"/>
                    <a:pt x="0" y="622628"/>
                  </a:cubicBezTo>
                  <a:lnTo>
                    <a:pt x="0" y="860915"/>
                  </a:lnTo>
                </a:path>
              </a:pathLst>
            </a:custGeom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5777908" y="502635"/>
              <a:ext cx="60959" cy="860915"/>
            </a:xfrm>
            <a:custGeom>
              <a:avLst/>
              <a:gdLst/>
              <a:ahLst/>
              <a:cxnLst/>
              <a:rect l="l" t="t" r="r" b="b"/>
              <a:pathLst>
                <a:path h="426486">
                  <a:moveTo>
                    <a:pt x="0" y="0"/>
                  </a:moveTo>
                  <a:lnTo>
                    <a:pt x="0" y="426486"/>
                  </a:lnTo>
                </a:path>
              </a:pathLst>
            </a:custGeom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02381" y="1315923"/>
              <a:ext cx="3072972" cy="558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76"/>
                </a:lnSpc>
              </a:pPr>
              <a:r>
                <a:rPr lang="en-US" sz="2554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Glacier </a:t>
              </a:r>
              <a:r>
                <a:rPr lang="en-US" sz="2554" b="1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retreat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5993046"/>
              <a:ext cx="5896872" cy="558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76"/>
                </a:lnSpc>
              </a:pPr>
              <a:r>
                <a:rPr lang="en-US" sz="2554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Damages to resources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780862" y="5993046"/>
              <a:ext cx="5896872" cy="558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76"/>
                </a:lnSpc>
              </a:pPr>
              <a:r>
                <a:rPr lang="en-US" sz="2554" b="1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Risk for people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372333" y="-47625"/>
              <a:ext cx="6933067" cy="5582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Climate change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887258" y="8995184"/>
            <a:ext cx="6370391" cy="263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97"/>
              </a:lnSpc>
            </a:pPr>
            <a:r>
              <a:rPr lang="en-US" sz="1641" i="1">
                <a:solidFill>
                  <a:srgbClr val="0E0340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Nepal flood tragedy 27/08/2026 ~ 392 Deaths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137146" y="2663018"/>
            <a:ext cx="6925357" cy="3120739"/>
            <a:chOff x="0" y="0"/>
            <a:chExt cx="996426" cy="44901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96426" cy="449014"/>
            </a:xfrm>
            <a:custGeom>
              <a:avLst/>
              <a:gdLst/>
              <a:ahLst/>
              <a:cxnLst/>
              <a:rect l="l" t="t" r="r" b="b"/>
              <a:pathLst>
                <a:path w="996426" h="449014">
                  <a:moveTo>
                    <a:pt x="0" y="0"/>
                  </a:moveTo>
                  <a:lnTo>
                    <a:pt x="996426" y="0"/>
                  </a:lnTo>
                  <a:lnTo>
                    <a:pt x="996426" y="449014"/>
                  </a:lnTo>
                  <a:lnTo>
                    <a:pt x="0" y="449014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0887258" y="5410728"/>
            <a:ext cx="6372042" cy="3584273"/>
          </a:xfrm>
          <a:custGeom>
            <a:avLst/>
            <a:gdLst/>
            <a:ahLst/>
            <a:cxnLst/>
            <a:rect l="l" t="t" r="r" b="b"/>
            <a:pathLst>
              <a:path w="6372042" h="3584273">
                <a:moveTo>
                  <a:pt x="0" y="0"/>
                </a:moveTo>
                <a:lnTo>
                  <a:pt x="6372042" y="0"/>
                </a:lnTo>
                <a:lnTo>
                  <a:pt x="6372042" y="3584273"/>
                </a:lnTo>
                <a:lnTo>
                  <a:pt x="0" y="35842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Box 21"/>
          <p:cNvSpPr txBox="1"/>
          <p:nvPr/>
        </p:nvSpPr>
        <p:spPr>
          <a:xfrm>
            <a:off x="8137146" y="5764707"/>
            <a:ext cx="2334813" cy="263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97"/>
              </a:lnSpc>
            </a:pPr>
            <a:r>
              <a:rPr lang="en-US" sz="1641" i="1">
                <a:solidFill>
                  <a:srgbClr val="0E0340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Macugnaga flood 2024</a:t>
            </a:r>
          </a:p>
        </p:txBody>
      </p:sp>
      <p:sp>
        <p:nvSpPr>
          <p:cNvPr id="23" name="Freeform 10">
            <a:extLst>
              <a:ext uri="{FF2B5EF4-FFF2-40B4-BE49-F238E27FC236}">
                <a16:creationId xmlns:a16="http://schemas.microsoft.com/office/drawing/2014/main" id="{243BF3FE-B978-ADBD-F160-C2B53EE8E3E9}"/>
              </a:ext>
            </a:extLst>
          </p:cNvPr>
          <p:cNvSpPr/>
          <p:nvPr/>
        </p:nvSpPr>
        <p:spPr>
          <a:xfrm flipH="1">
            <a:off x="4875505" y="6880021"/>
            <a:ext cx="2124320" cy="566823"/>
          </a:xfrm>
          <a:custGeom>
            <a:avLst/>
            <a:gdLst/>
            <a:ahLst/>
            <a:cxnLst/>
            <a:rect l="l" t="t" r="r" b="b"/>
            <a:pathLst>
              <a:path w="2890431" h="860915">
                <a:moveTo>
                  <a:pt x="2890430" y="0"/>
                </a:moveTo>
                <a:lnTo>
                  <a:pt x="2890430" y="192171"/>
                </a:lnTo>
                <a:cubicBezTo>
                  <a:pt x="2890430" y="243137"/>
                  <a:pt x="2870184" y="292017"/>
                  <a:pt x="2834145" y="328055"/>
                </a:cubicBezTo>
                <a:cubicBezTo>
                  <a:pt x="2798106" y="364094"/>
                  <a:pt x="2749227" y="384341"/>
                  <a:pt x="2698260" y="384341"/>
                </a:cubicBezTo>
                <a:lnTo>
                  <a:pt x="238287" y="384341"/>
                </a:lnTo>
                <a:cubicBezTo>
                  <a:pt x="106684" y="384341"/>
                  <a:pt x="0" y="491025"/>
                  <a:pt x="0" y="622628"/>
                </a:cubicBezTo>
                <a:lnTo>
                  <a:pt x="0" y="860915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05706"/>
            <a:ext cx="18288000" cy="1828986"/>
          </a:xfrm>
          <a:custGeom>
            <a:avLst/>
            <a:gdLst/>
            <a:ahLst/>
            <a:cxnLst/>
            <a:rect l="l" t="t" r="r" b="b"/>
            <a:pathLst>
              <a:path w="18288000" h="1828986">
                <a:moveTo>
                  <a:pt x="0" y="0"/>
                </a:moveTo>
                <a:lnTo>
                  <a:pt x="18288000" y="0"/>
                </a:lnTo>
                <a:lnTo>
                  <a:pt x="18288000" y="1828986"/>
                </a:lnTo>
                <a:lnTo>
                  <a:pt x="0" y="1828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3120" b="-443061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955017" y="3583017"/>
            <a:ext cx="12377965" cy="6188983"/>
            <a:chOff x="0" y="0"/>
            <a:chExt cx="6350000" cy="3175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3175000"/>
            </a:xfrm>
            <a:custGeom>
              <a:avLst/>
              <a:gdLst/>
              <a:ahLst/>
              <a:cxnLst/>
              <a:rect l="l" t="t" r="r" b="b"/>
              <a:pathLst>
                <a:path w="6350000" h="3175000">
                  <a:moveTo>
                    <a:pt x="3175000" y="0"/>
                  </a:moveTo>
                  <a:cubicBezTo>
                    <a:pt x="1421130" y="0"/>
                    <a:pt x="0" y="1421130"/>
                    <a:pt x="0" y="3175000"/>
                  </a:cubicBezTo>
                  <a:lnTo>
                    <a:pt x="6350000" y="3175000"/>
                  </a:lnTo>
                  <a:cubicBezTo>
                    <a:pt x="6350000" y="1421130"/>
                    <a:pt x="4928870" y="0"/>
                    <a:pt x="3175000" y="0"/>
                  </a:cubicBezTo>
                  <a:close/>
                </a:path>
              </a:pathLst>
            </a:custGeom>
            <a:blipFill>
              <a:blip r:embed="rId4"/>
              <a:stretch>
                <a:fillRect t="-25000" b="-2500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23004" y="5978217"/>
            <a:ext cx="626391" cy="62639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64C6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635236" y="3267712"/>
            <a:ext cx="637163" cy="63716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62C4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289324" y="6267364"/>
            <a:ext cx="626391" cy="62639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64C6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2743737" y="3401316"/>
            <a:ext cx="422560" cy="363402"/>
          </a:xfrm>
          <a:custGeom>
            <a:avLst/>
            <a:gdLst/>
            <a:ahLst/>
            <a:cxnLst/>
            <a:rect l="l" t="t" r="r" b="b"/>
            <a:pathLst>
              <a:path w="422560" h="363402">
                <a:moveTo>
                  <a:pt x="0" y="0"/>
                </a:moveTo>
                <a:lnTo>
                  <a:pt x="422560" y="0"/>
                </a:lnTo>
                <a:lnTo>
                  <a:pt x="422560" y="363402"/>
                </a:lnTo>
                <a:lnTo>
                  <a:pt x="0" y="3634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5" name="Freeform 15"/>
          <p:cNvSpPr/>
          <p:nvPr/>
        </p:nvSpPr>
        <p:spPr>
          <a:xfrm>
            <a:off x="1507276" y="6100415"/>
            <a:ext cx="257846" cy="381995"/>
          </a:xfrm>
          <a:custGeom>
            <a:avLst/>
            <a:gdLst/>
            <a:ahLst/>
            <a:cxnLst/>
            <a:rect l="l" t="t" r="r" b="b"/>
            <a:pathLst>
              <a:path w="257846" h="381995">
                <a:moveTo>
                  <a:pt x="0" y="0"/>
                </a:moveTo>
                <a:lnTo>
                  <a:pt x="257847" y="0"/>
                </a:lnTo>
                <a:lnTo>
                  <a:pt x="257847" y="381995"/>
                </a:lnTo>
                <a:lnTo>
                  <a:pt x="0" y="3819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6" name="Group 16"/>
          <p:cNvGrpSpPr/>
          <p:nvPr/>
        </p:nvGrpSpPr>
        <p:grpSpPr>
          <a:xfrm>
            <a:off x="8705328" y="1847294"/>
            <a:ext cx="637163" cy="637163"/>
            <a:chOff x="0" y="0"/>
            <a:chExt cx="849550" cy="84955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849550" cy="849550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62C41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147555" y="219122"/>
              <a:ext cx="554440" cy="443552"/>
            </a:xfrm>
            <a:custGeom>
              <a:avLst/>
              <a:gdLst/>
              <a:ahLst/>
              <a:cxnLst/>
              <a:rect l="l" t="t" r="r" b="b"/>
              <a:pathLst>
                <a:path w="554440" h="443552">
                  <a:moveTo>
                    <a:pt x="0" y="0"/>
                  </a:moveTo>
                  <a:lnTo>
                    <a:pt x="554440" y="0"/>
                  </a:lnTo>
                  <a:lnTo>
                    <a:pt x="554440" y="443551"/>
                  </a:lnTo>
                  <a:lnTo>
                    <a:pt x="0" y="443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1" name="Freeform 21"/>
          <p:cNvSpPr/>
          <p:nvPr/>
        </p:nvSpPr>
        <p:spPr>
          <a:xfrm>
            <a:off x="16416817" y="6430140"/>
            <a:ext cx="371405" cy="300838"/>
          </a:xfrm>
          <a:custGeom>
            <a:avLst/>
            <a:gdLst/>
            <a:ahLst/>
            <a:cxnLst/>
            <a:rect l="l" t="t" r="r" b="b"/>
            <a:pathLst>
              <a:path w="371405" h="300838">
                <a:moveTo>
                  <a:pt x="0" y="0"/>
                </a:moveTo>
                <a:lnTo>
                  <a:pt x="371405" y="0"/>
                </a:lnTo>
                <a:lnTo>
                  <a:pt x="371405" y="300838"/>
                </a:lnTo>
                <a:lnTo>
                  <a:pt x="0" y="3008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2" name="TextBox 22"/>
          <p:cNvSpPr txBox="1"/>
          <p:nvPr/>
        </p:nvSpPr>
        <p:spPr>
          <a:xfrm>
            <a:off x="802626" y="111021"/>
            <a:ext cx="16218413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>
                <a:solidFill>
                  <a:srgbClr val="FBFBF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The Monitoring Challenge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514447" y="9191625"/>
            <a:ext cx="383170" cy="580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23107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0" y="6652233"/>
            <a:ext cx="3272399" cy="1292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9"/>
              </a:lnSpc>
              <a:spcBef>
                <a:spcPct val="0"/>
              </a:spcBef>
            </a:pPr>
            <a:r>
              <a:rPr lang="en-US" sz="3251" b="1" spc="162">
                <a:solidFill>
                  <a:srgbClr val="102B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Remote and Hazardous Location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57952" y="3952500"/>
            <a:ext cx="3194130" cy="869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9"/>
              </a:lnSpc>
              <a:spcBef>
                <a:spcPct val="0"/>
              </a:spcBef>
            </a:pPr>
            <a:r>
              <a:rPr lang="en-US" sz="3251" b="1" spc="162">
                <a:solidFill>
                  <a:srgbClr val="102B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 Grid Connection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046191" y="6941379"/>
            <a:ext cx="3112656" cy="869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9"/>
              </a:lnSpc>
              <a:spcBef>
                <a:spcPct val="0"/>
              </a:spcBef>
            </a:pPr>
            <a:r>
              <a:rPr lang="en-US" sz="3251" b="1" spc="162">
                <a:solidFill>
                  <a:srgbClr val="102B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High Quality Images / data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3293798" y="3267712"/>
            <a:ext cx="2697724" cy="1551847"/>
            <a:chOff x="0" y="0"/>
            <a:chExt cx="3596965" cy="2069130"/>
          </a:xfrm>
        </p:grpSpPr>
        <p:grpSp>
          <p:nvGrpSpPr>
            <p:cNvPr id="28" name="Group 28"/>
            <p:cNvGrpSpPr/>
            <p:nvPr/>
          </p:nvGrpSpPr>
          <p:grpSpPr>
            <a:xfrm>
              <a:off x="1375209" y="0"/>
              <a:ext cx="846547" cy="846547"/>
              <a:chOff x="0" y="0"/>
              <a:chExt cx="812800" cy="812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A015C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31" name="Freeform 31"/>
            <p:cNvSpPr/>
            <p:nvPr/>
          </p:nvSpPr>
          <p:spPr>
            <a:xfrm>
              <a:off x="1571661" y="189703"/>
              <a:ext cx="453644" cy="453644"/>
            </a:xfrm>
            <a:custGeom>
              <a:avLst/>
              <a:gdLst/>
              <a:ahLst/>
              <a:cxnLst/>
              <a:rect l="l" t="t" r="r" b="b"/>
              <a:pathLst>
                <a:path w="453644" h="453644">
                  <a:moveTo>
                    <a:pt x="0" y="0"/>
                  </a:moveTo>
                  <a:lnTo>
                    <a:pt x="453643" y="0"/>
                  </a:lnTo>
                  <a:lnTo>
                    <a:pt x="453643" y="453644"/>
                  </a:lnTo>
                  <a:lnTo>
                    <a:pt x="0" y="4536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894172"/>
              <a:ext cx="3596965" cy="11749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49"/>
                </a:lnSpc>
                <a:spcBef>
                  <a:spcPct val="0"/>
                </a:spcBef>
              </a:pPr>
              <a:r>
                <a:rPr lang="en-US" sz="3251" b="1" spc="162">
                  <a:solidFill>
                    <a:srgbClr val="102B3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Rockfall Risk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052603" y="2532082"/>
            <a:ext cx="3942612" cy="869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9"/>
              </a:lnSpc>
              <a:spcBef>
                <a:spcPct val="0"/>
              </a:spcBef>
            </a:pPr>
            <a:r>
              <a:rPr lang="en-US" sz="3251" b="1" spc="162">
                <a:solidFill>
                  <a:srgbClr val="102B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Extreme Weather Condition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955017" y="9752949"/>
            <a:ext cx="6370391" cy="263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97"/>
              </a:lnSpc>
            </a:pPr>
            <a:r>
              <a:rPr lang="en-US" sz="1641" i="1">
                <a:solidFill>
                  <a:srgbClr val="0E0340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Installation 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05706"/>
            <a:ext cx="18288000" cy="1828986"/>
          </a:xfrm>
          <a:custGeom>
            <a:avLst/>
            <a:gdLst/>
            <a:ahLst/>
            <a:cxnLst/>
            <a:rect l="l" t="t" r="r" b="b"/>
            <a:pathLst>
              <a:path w="18288000" h="1828986">
                <a:moveTo>
                  <a:pt x="0" y="0"/>
                </a:moveTo>
                <a:lnTo>
                  <a:pt x="18288000" y="0"/>
                </a:lnTo>
                <a:lnTo>
                  <a:pt x="18288000" y="1828986"/>
                </a:lnTo>
                <a:lnTo>
                  <a:pt x="0" y="1828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3120" b="-443061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-826320" y="1969530"/>
            <a:ext cx="16860033" cy="1718952"/>
            <a:chOff x="0" y="0"/>
            <a:chExt cx="10911955" cy="11125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11956" cy="1113790"/>
            </a:xfrm>
            <a:custGeom>
              <a:avLst/>
              <a:gdLst/>
              <a:ahLst/>
              <a:cxnLst/>
              <a:rect l="l" t="t" r="r" b="b"/>
              <a:pathLst>
                <a:path w="10911956" h="1113790">
                  <a:moveTo>
                    <a:pt x="10359506" y="0"/>
                  </a:moveTo>
                  <a:lnTo>
                    <a:pt x="553720" y="0"/>
                  </a:lnTo>
                  <a:cubicBezTo>
                    <a:pt x="247650" y="0"/>
                    <a:pt x="0" y="247650"/>
                    <a:pt x="0" y="553720"/>
                  </a:cubicBezTo>
                  <a:cubicBezTo>
                    <a:pt x="0" y="859790"/>
                    <a:pt x="247650" y="1107440"/>
                    <a:pt x="553720" y="1107440"/>
                  </a:cubicBezTo>
                  <a:lnTo>
                    <a:pt x="10359506" y="1113790"/>
                  </a:lnTo>
                  <a:lnTo>
                    <a:pt x="10911956" y="558800"/>
                  </a:lnTo>
                  <a:lnTo>
                    <a:pt x="10359506" y="0"/>
                  </a:lnTo>
                  <a:close/>
                </a:path>
              </a:pathLst>
            </a:custGeom>
            <a:solidFill>
              <a:srgbClr val="B64C6A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7123648" y="4031382"/>
            <a:ext cx="10009718" cy="4843412"/>
          </a:xfrm>
          <a:custGeom>
            <a:avLst/>
            <a:gdLst/>
            <a:ahLst/>
            <a:cxnLst/>
            <a:rect l="l" t="t" r="r" b="b"/>
            <a:pathLst>
              <a:path w="10009718" h="4843412">
                <a:moveTo>
                  <a:pt x="0" y="0"/>
                </a:moveTo>
                <a:lnTo>
                  <a:pt x="10009717" y="0"/>
                </a:lnTo>
                <a:lnTo>
                  <a:pt x="10009717" y="4843412"/>
                </a:lnTo>
                <a:lnTo>
                  <a:pt x="0" y="48434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802626" y="111021"/>
            <a:ext cx="16218413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>
                <a:solidFill>
                  <a:srgbClr val="FBFBF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Current Limitations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514447" y="9191625"/>
            <a:ext cx="383170" cy="580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23107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77819" y="2418853"/>
            <a:ext cx="9242612" cy="86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4"/>
              </a:lnSpc>
            </a:pPr>
            <a:r>
              <a:rPr lang="en-US" sz="2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</a:t>
            </a:r>
            <a:r>
              <a:rPr lang="en-US" sz="248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problem </a:t>
            </a:r>
            <a:r>
              <a:rPr lang="en-US" sz="2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is not the lack of monitoring technologies, it is the lack of </a:t>
            </a:r>
            <a:r>
              <a:rPr lang="en-US" sz="248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continuous</a:t>
            </a:r>
            <a:r>
              <a:rPr lang="en-US" sz="2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</a:t>
            </a:r>
            <a:r>
              <a:rPr lang="en-US" sz="248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reliable observations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2522" y="4755001"/>
            <a:ext cx="6498205" cy="1629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3855" lvl="1" indent="-241927" algn="l">
              <a:lnSpc>
                <a:spcPts val="4482"/>
              </a:lnSpc>
              <a:buFont typeface="Arial"/>
              <a:buChar char="•"/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Saltuary monitoring campaigns</a:t>
            </a:r>
          </a:p>
          <a:p>
            <a:pPr marL="483855" lvl="1" indent="-241927" algn="l">
              <a:lnSpc>
                <a:spcPts val="4482"/>
              </a:lnSpc>
              <a:buFont typeface="Arial"/>
              <a:buChar char="•"/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No mapping of phenomena’s evolution</a:t>
            </a:r>
          </a:p>
          <a:p>
            <a:pPr marL="483855" lvl="1" indent="-241927" algn="l">
              <a:lnSpc>
                <a:spcPts val="4482"/>
              </a:lnSpc>
              <a:buFont typeface="Arial"/>
              <a:buChar char="•"/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Impossibility to record sudden events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3303"/>
            <a:ext cx="4155168" cy="663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9"/>
              </a:lnSpc>
              <a:spcBef>
                <a:spcPct val="0"/>
              </a:spcBef>
            </a:pPr>
            <a:r>
              <a:rPr lang="en-US" sz="3892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Continuity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60867" y="7514716"/>
            <a:ext cx="4269360" cy="1629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3855" lvl="1" indent="-241927" algn="l">
              <a:lnSpc>
                <a:spcPts val="4482"/>
              </a:lnSpc>
              <a:buFont typeface="Arial"/>
              <a:buChar char="•"/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Cloud interfearance</a:t>
            </a:r>
          </a:p>
          <a:p>
            <a:pPr marL="483855" lvl="1" indent="-241927" algn="l">
              <a:lnSpc>
                <a:spcPts val="4482"/>
              </a:lnSpc>
              <a:buFont typeface="Arial"/>
              <a:buChar char="•"/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Inconsistently reported data</a:t>
            </a:r>
          </a:p>
          <a:p>
            <a:pPr marL="483855" lvl="1" indent="-241927" algn="l">
              <a:lnSpc>
                <a:spcPts val="4482"/>
              </a:lnSpc>
              <a:buFont typeface="Arial"/>
              <a:buChar char="•"/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Restricted sampling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7023017"/>
            <a:ext cx="4155168" cy="663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9"/>
              </a:lnSpc>
              <a:spcBef>
                <a:spcPct val="0"/>
              </a:spcBef>
            </a:pPr>
            <a:r>
              <a:rPr lang="en-US" sz="3892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Reliability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23648" y="8881442"/>
            <a:ext cx="6370391" cy="263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97"/>
              </a:lnSpc>
            </a:pPr>
            <a:r>
              <a:rPr lang="en-US" sz="1641" i="1">
                <a:solidFill>
                  <a:srgbClr val="0E0340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Marmolada glacier survey expedition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05706"/>
            <a:ext cx="18288000" cy="1828986"/>
          </a:xfrm>
          <a:custGeom>
            <a:avLst/>
            <a:gdLst/>
            <a:ahLst/>
            <a:cxnLst/>
            <a:rect l="l" t="t" r="r" b="b"/>
            <a:pathLst>
              <a:path w="18288000" h="1828986">
                <a:moveTo>
                  <a:pt x="0" y="0"/>
                </a:moveTo>
                <a:lnTo>
                  <a:pt x="18288000" y="0"/>
                </a:lnTo>
                <a:lnTo>
                  <a:pt x="18288000" y="1828986"/>
                </a:lnTo>
                <a:lnTo>
                  <a:pt x="0" y="1828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3120" b="-443061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802626" y="111021"/>
            <a:ext cx="16218413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>
                <a:solidFill>
                  <a:srgbClr val="FBFBF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Objective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514447" y="9191625"/>
            <a:ext cx="383170" cy="580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23107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5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826320" y="1969530"/>
            <a:ext cx="16860033" cy="1718771"/>
            <a:chOff x="0" y="0"/>
            <a:chExt cx="22480044" cy="2291695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22480044" cy="2291695"/>
              <a:chOff x="0" y="0"/>
              <a:chExt cx="10911955" cy="111252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0911956" cy="1113673"/>
              </a:xfrm>
              <a:custGeom>
                <a:avLst/>
                <a:gdLst/>
                <a:ahLst/>
                <a:cxnLst/>
                <a:rect l="l" t="t" r="r" b="b"/>
                <a:pathLst>
                  <a:path w="10911956" h="1113673">
                    <a:moveTo>
                      <a:pt x="10359506" y="0"/>
                    </a:moveTo>
                    <a:lnTo>
                      <a:pt x="553720" y="0"/>
                    </a:lnTo>
                    <a:cubicBezTo>
                      <a:pt x="247650" y="0"/>
                      <a:pt x="0" y="247624"/>
                      <a:pt x="0" y="553662"/>
                    </a:cubicBezTo>
                    <a:cubicBezTo>
                      <a:pt x="0" y="859700"/>
                      <a:pt x="247650" y="1107324"/>
                      <a:pt x="553720" y="1107324"/>
                    </a:cubicBezTo>
                    <a:lnTo>
                      <a:pt x="10359506" y="1113673"/>
                    </a:lnTo>
                    <a:lnTo>
                      <a:pt x="10911956" y="558741"/>
                    </a:lnTo>
                    <a:lnTo>
                      <a:pt x="10359506" y="0"/>
                    </a:lnTo>
                    <a:close/>
                  </a:path>
                </a:pathLst>
              </a:custGeom>
              <a:solidFill>
                <a:srgbClr val="B64C6A"/>
              </a:solidFill>
            </p:spPr>
            <p:txBody>
              <a:bodyPr/>
              <a:lstStyle/>
              <a:p>
                <a:endParaRPr lang="it-IT"/>
              </a:p>
            </p:txBody>
          </p:sp>
        </p:grpSp>
        <p:sp>
          <p:nvSpPr>
            <p:cNvPr id="8" name="Freeform 8"/>
            <p:cNvSpPr/>
            <p:nvPr/>
          </p:nvSpPr>
          <p:spPr>
            <a:xfrm>
              <a:off x="4165483" y="622819"/>
              <a:ext cx="1028198" cy="1028198"/>
            </a:xfrm>
            <a:custGeom>
              <a:avLst/>
              <a:gdLst/>
              <a:ahLst/>
              <a:cxnLst/>
              <a:rect l="l" t="t" r="r" b="b"/>
              <a:pathLst>
                <a:path w="1028198" h="1028198">
                  <a:moveTo>
                    <a:pt x="0" y="0"/>
                  </a:moveTo>
                  <a:lnTo>
                    <a:pt x="1028198" y="0"/>
                  </a:lnTo>
                  <a:lnTo>
                    <a:pt x="1028198" y="1028197"/>
                  </a:lnTo>
                  <a:lnTo>
                    <a:pt x="0" y="10281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443894" y="591282"/>
              <a:ext cx="16227575" cy="113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15"/>
                </a:lnSpc>
                <a:spcBef>
                  <a:spcPct val="0"/>
                </a:spcBef>
              </a:pPr>
              <a:r>
                <a:rPr lang="en-US" sz="2511" b="1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Goal</a:t>
              </a:r>
              <a:r>
                <a:rPr lang="en-US" sz="2511" b="1" u="none" strike="noStrike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: Develop an autonomous optical monitoring system to continuously observe glacier-fed rivers and estimate water turbidity from remote imagery.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349516" y="6269625"/>
            <a:ext cx="6934359" cy="1271122"/>
            <a:chOff x="0" y="0"/>
            <a:chExt cx="2217036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17036" cy="406400"/>
            </a:xfrm>
            <a:custGeom>
              <a:avLst/>
              <a:gdLst/>
              <a:ahLst/>
              <a:cxnLst/>
              <a:rect l="l" t="t" r="r" b="b"/>
              <a:pathLst>
                <a:path w="2217036" h="406400">
                  <a:moveTo>
                    <a:pt x="2013836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2013836" y="406400"/>
                  </a:lnTo>
                  <a:lnTo>
                    <a:pt x="2217036" y="203200"/>
                  </a:lnTo>
                  <a:lnTo>
                    <a:pt x="2013836" y="0"/>
                  </a:lnTo>
                  <a:close/>
                </a:path>
              </a:pathLst>
            </a:custGeom>
            <a:solidFill>
              <a:srgbClr val="501233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102736" cy="425450"/>
            </a:xfrm>
            <a:prstGeom prst="rect">
              <a:avLst/>
            </a:prstGeom>
          </p:spPr>
          <p:txBody>
            <a:bodyPr lIns="43615" tIns="43615" rIns="43615" bIns="43615" rtlCol="0" anchor="ctr"/>
            <a:lstStyle/>
            <a:p>
              <a:pPr marL="0" lvl="0" indent="0" algn="ctr">
                <a:lnSpc>
                  <a:spcPts val="216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349516" y="4998503"/>
            <a:ext cx="4996134" cy="1171300"/>
            <a:chOff x="0" y="0"/>
            <a:chExt cx="1445080" cy="33878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45080" cy="338786"/>
            </a:xfrm>
            <a:custGeom>
              <a:avLst/>
              <a:gdLst/>
              <a:ahLst/>
              <a:cxnLst/>
              <a:rect l="l" t="t" r="r" b="b"/>
              <a:pathLst>
                <a:path w="1445080" h="338786">
                  <a:moveTo>
                    <a:pt x="0" y="0"/>
                  </a:moveTo>
                  <a:lnTo>
                    <a:pt x="1445080" y="0"/>
                  </a:lnTo>
                  <a:lnTo>
                    <a:pt x="1445080" y="338786"/>
                  </a:lnTo>
                  <a:lnTo>
                    <a:pt x="0" y="338786"/>
                  </a:lnTo>
                  <a:close/>
                </a:path>
              </a:pathLst>
            </a:custGeom>
            <a:solidFill>
              <a:srgbClr val="1F0D2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445080" cy="357836"/>
            </a:xfrm>
            <a:prstGeom prst="rect">
              <a:avLst/>
            </a:prstGeom>
          </p:spPr>
          <p:txBody>
            <a:bodyPr lIns="43615" tIns="43615" rIns="43615" bIns="43615" rtlCol="0" anchor="ctr"/>
            <a:lstStyle/>
            <a:p>
              <a:pPr marL="0" lvl="0" indent="0" algn="ctr">
                <a:lnSpc>
                  <a:spcPts val="216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945140" y="4435555"/>
            <a:ext cx="1660450" cy="1734247"/>
            <a:chOff x="0" y="0"/>
            <a:chExt cx="571500" cy="5969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solidFill>
              <a:srgbClr val="1F0D2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279400"/>
              <a:ext cx="285750" cy="317500"/>
            </a:xfrm>
            <a:prstGeom prst="rect">
              <a:avLst/>
            </a:prstGeom>
          </p:spPr>
          <p:txBody>
            <a:bodyPr lIns="43615" tIns="43615" rIns="43615" bIns="43615" rtlCol="0" anchor="ctr"/>
            <a:lstStyle/>
            <a:p>
              <a:pPr marL="0" lvl="0" indent="0" algn="ctr">
                <a:lnSpc>
                  <a:spcPts val="216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49516" y="7643920"/>
            <a:ext cx="4996134" cy="1171300"/>
            <a:chOff x="0" y="0"/>
            <a:chExt cx="1445080" cy="33878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45080" cy="338786"/>
            </a:xfrm>
            <a:custGeom>
              <a:avLst/>
              <a:gdLst/>
              <a:ahLst/>
              <a:cxnLst/>
              <a:rect l="l" t="t" r="r" b="b"/>
              <a:pathLst>
                <a:path w="1445080" h="338786">
                  <a:moveTo>
                    <a:pt x="0" y="0"/>
                  </a:moveTo>
                  <a:lnTo>
                    <a:pt x="1445080" y="0"/>
                  </a:lnTo>
                  <a:lnTo>
                    <a:pt x="1445080" y="338786"/>
                  </a:lnTo>
                  <a:lnTo>
                    <a:pt x="0" y="338786"/>
                  </a:lnTo>
                  <a:close/>
                </a:path>
              </a:pathLst>
            </a:custGeom>
            <a:solidFill>
              <a:srgbClr val="862C41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445080" cy="357836"/>
            </a:xfrm>
            <a:prstGeom prst="rect">
              <a:avLst/>
            </a:prstGeom>
          </p:spPr>
          <p:txBody>
            <a:bodyPr lIns="43615" tIns="43615" rIns="43615" bIns="43615" rtlCol="0" anchor="ctr"/>
            <a:lstStyle/>
            <a:p>
              <a:pPr marL="0" lvl="0" indent="0" algn="ctr">
                <a:lnSpc>
                  <a:spcPts val="216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5400000">
            <a:off x="8980469" y="7604513"/>
            <a:ext cx="1589792" cy="1660450"/>
            <a:chOff x="0" y="0"/>
            <a:chExt cx="571500" cy="5969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71500" cy="596900"/>
            </a:xfrm>
            <a:custGeom>
              <a:avLst/>
              <a:gdLst/>
              <a:ahLst/>
              <a:cxnLst/>
              <a:rect l="l" t="t" r="r" b="b"/>
              <a:pathLst>
                <a:path w="571500" h="5969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solidFill>
              <a:srgbClr val="862C41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279400"/>
              <a:ext cx="285750" cy="317500"/>
            </a:xfrm>
            <a:prstGeom prst="rect">
              <a:avLst/>
            </a:prstGeom>
          </p:spPr>
          <p:txBody>
            <a:bodyPr lIns="43615" tIns="43615" rIns="43615" bIns="43615" rtlCol="0" anchor="ctr"/>
            <a:lstStyle/>
            <a:p>
              <a:pPr marL="0" lvl="0" indent="0" algn="ctr">
                <a:lnSpc>
                  <a:spcPts val="216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876076" y="4349390"/>
            <a:ext cx="4915054" cy="4908910"/>
          </a:xfrm>
          <a:custGeom>
            <a:avLst/>
            <a:gdLst/>
            <a:ahLst/>
            <a:cxnLst/>
            <a:rect l="l" t="t" r="r" b="b"/>
            <a:pathLst>
              <a:path w="4915054" h="4908910">
                <a:moveTo>
                  <a:pt x="0" y="0"/>
                </a:moveTo>
                <a:lnTo>
                  <a:pt x="4915054" y="0"/>
                </a:lnTo>
                <a:lnTo>
                  <a:pt x="4915054" y="4908910"/>
                </a:lnTo>
                <a:lnTo>
                  <a:pt x="0" y="49089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26" name="Group 26"/>
          <p:cNvGrpSpPr/>
          <p:nvPr/>
        </p:nvGrpSpPr>
        <p:grpSpPr>
          <a:xfrm>
            <a:off x="1876076" y="4868653"/>
            <a:ext cx="4112859" cy="4112859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03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776431" y="4494032"/>
            <a:ext cx="4449991" cy="1090121"/>
            <a:chOff x="0" y="0"/>
            <a:chExt cx="1209230" cy="29622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09230" cy="296227"/>
            </a:xfrm>
            <a:custGeom>
              <a:avLst/>
              <a:gdLst/>
              <a:ahLst/>
              <a:cxnLst/>
              <a:rect l="l" t="t" r="r" b="b"/>
              <a:pathLst>
                <a:path w="1209230" h="296227">
                  <a:moveTo>
                    <a:pt x="17398" y="0"/>
                  </a:moveTo>
                  <a:lnTo>
                    <a:pt x="1191832" y="0"/>
                  </a:lnTo>
                  <a:cubicBezTo>
                    <a:pt x="1201441" y="0"/>
                    <a:pt x="1209230" y="7789"/>
                    <a:pt x="1209230" y="17398"/>
                  </a:cubicBezTo>
                  <a:lnTo>
                    <a:pt x="1209230" y="278829"/>
                  </a:lnTo>
                  <a:cubicBezTo>
                    <a:pt x="1209230" y="288438"/>
                    <a:pt x="1201441" y="296227"/>
                    <a:pt x="1191832" y="296227"/>
                  </a:cubicBezTo>
                  <a:lnTo>
                    <a:pt x="17398" y="296227"/>
                  </a:lnTo>
                  <a:cubicBezTo>
                    <a:pt x="7789" y="296227"/>
                    <a:pt x="0" y="288438"/>
                    <a:pt x="0" y="278829"/>
                  </a:cubicBezTo>
                  <a:lnTo>
                    <a:pt x="0" y="17398"/>
                  </a:lnTo>
                  <a:cubicBezTo>
                    <a:pt x="0" y="7789"/>
                    <a:pt x="7789" y="0"/>
                    <a:pt x="1739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1209230" cy="3438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522213" y="4791472"/>
            <a:ext cx="508436" cy="508436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0D2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967722" y="4804505"/>
            <a:ext cx="4128361" cy="4128361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21688" r="-28531"/>
              </a:stretch>
            </a:blip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6609647" y="5170343"/>
            <a:ext cx="3165718" cy="779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4"/>
              </a:lnSpc>
              <a:spcBef>
                <a:spcPct val="0"/>
              </a:spcBef>
            </a:pPr>
            <a:r>
              <a:rPr lang="en-US" sz="2252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Monitoring Platform Design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981630" y="6511273"/>
            <a:ext cx="3452354" cy="779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4"/>
              </a:lnSpc>
              <a:spcBef>
                <a:spcPct val="0"/>
              </a:spcBef>
            </a:pPr>
            <a:r>
              <a:rPr lang="en-US" sz="2252" b="1">
                <a:solidFill>
                  <a:srgbClr val="FBFBF9"/>
                </a:solidFill>
                <a:latin typeface="TT Hoves Bold"/>
                <a:ea typeface="TT Hoves Bold"/>
                <a:cs typeface="TT Hoves Bold"/>
                <a:sym typeface="TT Hoves Bold"/>
              </a:rPr>
              <a:t>Quantitative Information Pipeline Implementation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609647" y="7782477"/>
            <a:ext cx="2986965" cy="779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4"/>
              </a:lnSpc>
              <a:spcBef>
                <a:spcPct val="0"/>
              </a:spcBef>
            </a:pPr>
            <a:r>
              <a:rPr lang="en-US" sz="2252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Integrated Platform Deployment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157674" y="4528722"/>
            <a:ext cx="4068748" cy="989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75"/>
              </a:lnSpc>
              <a:spcBef>
                <a:spcPct val="0"/>
              </a:spcBef>
            </a:pPr>
            <a:r>
              <a:rPr lang="en-US" sz="191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Design of </a:t>
            </a:r>
            <a:r>
              <a:rPr lang="en-US" sz="1911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autonomous </a:t>
            </a:r>
            <a:r>
              <a:rPr lang="en-US" sz="191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and </a:t>
            </a:r>
            <a:r>
              <a:rPr lang="en-US" sz="1911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continuous </a:t>
            </a:r>
            <a:r>
              <a:rPr lang="en-US" sz="191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observation system for glacier-fed river.</a:t>
            </a:r>
          </a:p>
        </p:txBody>
      </p:sp>
      <p:sp>
        <p:nvSpPr>
          <p:cNvPr id="41" name="Freeform 41"/>
          <p:cNvSpPr/>
          <p:nvPr/>
        </p:nvSpPr>
        <p:spPr>
          <a:xfrm>
            <a:off x="10617974" y="4883170"/>
            <a:ext cx="316913" cy="325039"/>
          </a:xfrm>
          <a:custGeom>
            <a:avLst/>
            <a:gdLst/>
            <a:ahLst/>
            <a:cxnLst/>
            <a:rect l="l" t="t" r="r" b="b"/>
            <a:pathLst>
              <a:path w="316913" h="325039">
                <a:moveTo>
                  <a:pt x="0" y="0"/>
                </a:moveTo>
                <a:lnTo>
                  <a:pt x="316914" y="0"/>
                </a:lnTo>
                <a:lnTo>
                  <a:pt x="316914" y="325039"/>
                </a:lnTo>
                <a:lnTo>
                  <a:pt x="0" y="3250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2" name="Group 42"/>
          <p:cNvGrpSpPr/>
          <p:nvPr/>
        </p:nvGrpSpPr>
        <p:grpSpPr>
          <a:xfrm>
            <a:off x="10541044" y="8126142"/>
            <a:ext cx="4078947" cy="1090121"/>
            <a:chOff x="0" y="0"/>
            <a:chExt cx="1108403" cy="296227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08403" cy="296227"/>
            </a:xfrm>
            <a:custGeom>
              <a:avLst/>
              <a:gdLst/>
              <a:ahLst/>
              <a:cxnLst/>
              <a:rect l="l" t="t" r="r" b="b"/>
              <a:pathLst>
                <a:path w="1108403" h="296227">
                  <a:moveTo>
                    <a:pt x="18980" y="0"/>
                  </a:moveTo>
                  <a:lnTo>
                    <a:pt x="1089423" y="0"/>
                  </a:lnTo>
                  <a:cubicBezTo>
                    <a:pt x="1094457" y="0"/>
                    <a:pt x="1099284" y="2000"/>
                    <a:pt x="1102844" y="5559"/>
                  </a:cubicBezTo>
                  <a:cubicBezTo>
                    <a:pt x="1106403" y="9119"/>
                    <a:pt x="1108403" y="13946"/>
                    <a:pt x="1108403" y="18980"/>
                  </a:cubicBezTo>
                  <a:lnTo>
                    <a:pt x="1108403" y="277247"/>
                  </a:lnTo>
                  <a:cubicBezTo>
                    <a:pt x="1108403" y="282280"/>
                    <a:pt x="1106403" y="287108"/>
                    <a:pt x="1102844" y="290668"/>
                  </a:cubicBezTo>
                  <a:cubicBezTo>
                    <a:pt x="1099284" y="294227"/>
                    <a:pt x="1094457" y="296227"/>
                    <a:pt x="1089423" y="296227"/>
                  </a:cubicBezTo>
                  <a:lnTo>
                    <a:pt x="18980" y="296227"/>
                  </a:lnTo>
                  <a:cubicBezTo>
                    <a:pt x="13946" y="296227"/>
                    <a:pt x="9119" y="294227"/>
                    <a:pt x="5559" y="290668"/>
                  </a:cubicBezTo>
                  <a:cubicBezTo>
                    <a:pt x="2000" y="287108"/>
                    <a:pt x="0" y="282280"/>
                    <a:pt x="0" y="277247"/>
                  </a:cubicBezTo>
                  <a:lnTo>
                    <a:pt x="0" y="18980"/>
                  </a:lnTo>
                  <a:cubicBezTo>
                    <a:pt x="0" y="13946"/>
                    <a:pt x="2000" y="9119"/>
                    <a:pt x="5559" y="5559"/>
                  </a:cubicBezTo>
                  <a:cubicBezTo>
                    <a:pt x="9119" y="2000"/>
                    <a:pt x="13946" y="0"/>
                    <a:pt x="189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1108403" cy="3438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286826" y="8436856"/>
            <a:ext cx="508436" cy="508436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01233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0879112" y="8158187"/>
            <a:ext cx="3599909" cy="989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75"/>
              </a:lnSpc>
              <a:spcBef>
                <a:spcPct val="0"/>
              </a:spcBef>
            </a:pPr>
            <a:r>
              <a:rPr lang="en-US" sz="1911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Development, installation </a:t>
            </a:r>
            <a:r>
              <a:rPr lang="en-US" sz="191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and </a:t>
            </a:r>
            <a:r>
              <a:rPr lang="en-US" sz="1911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commissioning </a:t>
            </a:r>
            <a:r>
              <a:rPr lang="en-US" sz="191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of the validated phisical </a:t>
            </a:r>
            <a:r>
              <a:rPr lang="en-US" sz="1911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monitoring platform.</a:t>
            </a:r>
          </a:p>
        </p:txBody>
      </p:sp>
      <p:sp>
        <p:nvSpPr>
          <p:cNvPr id="49" name="Freeform 49"/>
          <p:cNvSpPr/>
          <p:nvPr/>
        </p:nvSpPr>
        <p:spPr>
          <a:xfrm>
            <a:off x="10376396" y="8538844"/>
            <a:ext cx="329298" cy="321065"/>
          </a:xfrm>
          <a:custGeom>
            <a:avLst/>
            <a:gdLst/>
            <a:ahLst/>
            <a:cxnLst/>
            <a:rect l="l" t="t" r="r" b="b"/>
            <a:pathLst>
              <a:path w="329298" h="321065">
                <a:moveTo>
                  <a:pt x="0" y="0"/>
                </a:moveTo>
                <a:lnTo>
                  <a:pt x="329297" y="0"/>
                </a:lnTo>
                <a:lnTo>
                  <a:pt x="329297" y="321066"/>
                </a:lnTo>
                <a:lnTo>
                  <a:pt x="0" y="3210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50" name="Group 50"/>
          <p:cNvGrpSpPr/>
          <p:nvPr/>
        </p:nvGrpSpPr>
        <p:grpSpPr>
          <a:xfrm>
            <a:off x="11985923" y="6360125"/>
            <a:ext cx="4426000" cy="1090121"/>
            <a:chOff x="0" y="0"/>
            <a:chExt cx="1202710" cy="296227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202711" cy="296227"/>
            </a:xfrm>
            <a:custGeom>
              <a:avLst/>
              <a:gdLst/>
              <a:ahLst/>
              <a:cxnLst/>
              <a:rect l="l" t="t" r="r" b="b"/>
              <a:pathLst>
                <a:path w="1202711" h="296227">
                  <a:moveTo>
                    <a:pt x="17492" y="0"/>
                  </a:moveTo>
                  <a:lnTo>
                    <a:pt x="1185219" y="0"/>
                  </a:lnTo>
                  <a:cubicBezTo>
                    <a:pt x="1194879" y="0"/>
                    <a:pt x="1202711" y="7831"/>
                    <a:pt x="1202711" y="17492"/>
                  </a:cubicBezTo>
                  <a:lnTo>
                    <a:pt x="1202711" y="278735"/>
                  </a:lnTo>
                  <a:cubicBezTo>
                    <a:pt x="1202711" y="288395"/>
                    <a:pt x="1194879" y="296227"/>
                    <a:pt x="1185219" y="296227"/>
                  </a:cubicBezTo>
                  <a:lnTo>
                    <a:pt x="17492" y="296227"/>
                  </a:lnTo>
                  <a:cubicBezTo>
                    <a:pt x="12853" y="296227"/>
                    <a:pt x="8404" y="294384"/>
                    <a:pt x="5123" y="291104"/>
                  </a:cubicBezTo>
                  <a:cubicBezTo>
                    <a:pt x="1843" y="287823"/>
                    <a:pt x="0" y="283374"/>
                    <a:pt x="0" y="278735"/>
                  </a:cubicBezTo>
                  <a:lnTo>
                    <a:pt x="0" y="17492"/>
                  </a:lnTo>
                  <a:cubicBezTo>
                    <a:pt x="0" y="7831"/>
                    <a:pt x="7831" y="0"/>
                    <a:pt x="1749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1202710" cy="3438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1707715" y="6629981"/>
            <a:ext cx="508436" cy="508436"/>
            <a:chOff x="0" y="0"/>
            <a:chExt cx="812800" cy="8128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62C41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2279123" y="6440884"/>
            <a:ext cx="3815611" cy="989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75"/>
              </a:lnSpc>
              <a:spcBef>
                <a:spcPct val="0"/>
              </a:spcBef>
            </a:pPr>
            <a:r>
              <a:rPr lang="en-US" sz="1911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ML pipeline</a:t>
            </a:r>
            <a:r>
              <a:rPr lang="en-US" sz="191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for </a:t>
            </a:r>
            <a:r>
              <a:rPr lang="en-US" sz="1911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quantitative information</a:t>
            </a:r>
            <a:r>
              <a:rPr lang="en-US" sz="191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extraction on water turbidity.</a:t>
            </a:r>
          </a:p>
        </p:txBody>
      </p:sp>
      <p:sp>
        <p:nvSpPr>
          <p:cNvPr id="57" name="Freeform 57"/>
          <p:cNvSpPr/>
          <p:nvPr/>
        </p:nvSpPr>
        <p:spPr>
          <a:xfrm>
            <a:off x="11791091" y="6720373"/>
            <a:ext cx="329298" cy="327651"/>
          </a:xfrm>
          <a:custGeom>
            <a:avLst/>
            <a:gdLst/>
            <a:ahLst/>
            <a:cxnLst/>
            <a:rect l="l" t="t" r="r" b="b"/>
            <a:pathLst>
              <a:path w="329298" h="327651">
                <a:moveTo>
                  <a:pt x="0" y="0"/>
                </a:moveTo>
                <a:lnTo>
                  <a:pt x="329298" y="0"/>
                </a:lnTo>
                <a:lnTo>
                  <a:pt x="329298" y="327652"/>
                </a:lnTo>
                <a:lnTo>
                  <a:pt x="0" y="327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8" name="Freeform 58"/>
          <p:cNvSpPr/>
          <p:nvPr/>
        </p:nvSpPr>
        <p:spPr>
          <a:xfrm>
            <a:off x="5886977" y="5299908"/>
            <a:ext cx="551220" cy="521544"/>
          </a:xfrm>
          <a:custGeom>
            <a:avLst/>
            <a:gdLst/>
            <a:ahLst/>
            <a:cxnLst/>
            <a:rect l="l" t="t" r="r" b="b"/>
            <a:pathLst>
              <a:path w="551220" h="521544">
                <a:moveTo>
                  <a:pt x="0" y="0"/>
                </a:moveTo>
                <a:lnTo>
                  <a:pt x="551220" y="0"/>
                </a:lnTo>
                <a:lnTo>
                  <a:pt x="551220" y="521543"/>
                </a:lnTo>
                <a:lnTo>
                  <a:pt x="0" y="52154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2845" b="-2845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9" name="Freeform 59"/>
          <p:cNvSpPr/>
          <p:nvPr/>
        </p:nvSpPr>
        <p:spPr>
          <a:xfrm>
            <a:off x="6172755" y="6641419"/>
            <a:ext cx="530885" cy="530885"/>
          </a:xfrm>
          <a:custGeom>
            <a:avLst/>
            <a:gdLst/>
            <a:ahLst/>
            <a:cxnLst/>
            <a:rect l="l" t="t" r="r" b="b"/>
            <a:pathLst>
              <a:path w="530885" h="530885">
                <a:moveTo>
                  <a:pt x="0" y="0"/>
                </a:moveTo>
                <a:lnTo>
                  <a:pt x="530885" y="0"/>
                </a:lnTo>
                <a:lnTo>
                  <a:pt x="530885" y="530885"/>
                </a:lnTo>
                <a:lnTo>
                  <a:pt x="0" y="53088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0" name="Freeform 60"/>
          <p:cNvSpPr/>
          <p:nvPr/>
        </p:nvSpPr>
        <p:spPr>
          <a:xfrm>
            <a:off x="5893953" y="7960935"/>
            <a:ext cx="537269" cy="537269"/>
          </a:xfrm>
          <a:custGeom>
            <a:avLst/>
            <a:gdLst/>
            <a:ahLst/>
            <a:cxnLst/>
            <a:rect l="l" t="t" r="r" b="b"/>
            <a:pathLst>
              <a:path w="537269" h="537269">
                <a:moveTo>
                  <a:pt x="0" y="0"/>
                </a:moveTo>
                <a:lnTo>
                  <a:pt x="537269" y="0"/>
                </a:lnTo>
                <a:lnTo>
                  <a:pt x="537269" y="537270"/>
                </a:lnTo>
                <a:lnTo>
                  <a:pt x="0" y="53727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05706"/>
            <a:ext cx="18288000" cy="1828986"/>
          </a:xfrm>
          <a:custGeom>
            <a:avLst/>
            <a:gdLst/>
            <a:ahLst/>
            <a:cxnLst/>
            <a:rect l="l" t="t" r="r" b="b"/>
            <a:pathLst>
              <a:path w="18288000" h="1828986">
                <a:moveTo>
                  <a:pt x="0" y="0"/>
                </a:moveTo>
                <a:lnTo>
                  <a:pt x="18288000" y="0"/>
                </a:lnTo>
                <a:lnTo>
                  <a:pt x="18288000" y="1828986"/>
                </a:lnTo>
                <a:lnTo>
                  <a:pt x="0" y="1828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3120" b="-443061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921845" y="1256388"/>
            <a:ext cx="7649262" cy="4957284"/>
            <a:chOff x="0" y="0"/>
            <a:chExt cx="10199016" cy="660971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199016" cy="6609713"/>
            </a:xfrm>
            <a:custGeom>
              <a:avLst/>
              <a:gdLst/>
              <a:ahLst/>
              <a:cxnLst/>
              <a:rect l="l" t="t" r="r" b="b"/>
              <a:pathLst>
                <a:path w="10199016" h="6609713">
                  <a:moveTo>
                    <a:pt x="0" y="0"/>
                  </a:moveTo>
                  <a:lnTo>
                    <a:pt x="10199016" y="0"/>
                  </a:lnTo>
                  <a:lnTo>
                    <a:pt x="10199016" y="6609713"/>
                  </a:lnTo>
                  <a:lnTo>
                    <a:pt x="0" y="6609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41767" b="-173439"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Freeform 5"/>
            <p:cNvSpPr/>
            <p:nvPr/>
          </p:nvSpPr>
          <p:spPr>
            <a:xfrm rot="-1002178">
              <a:off x="1680970" y="1641288"/>
              <a:ext cx="536823" cy="875255"/>
            </a:xfrm>
            <a:custGeom>
              <a:avLst/>
              <a:gdLst/>
              <a:ahLst/>
              <a:cxnLst/>
              <a:rect l="l" t="t" r="r" b="b"/>
              <a:pathLst>
                <a:path w="536823" h="875255">
                  <a:moveTo>
                    <a:pt x="0" y="0"/>
                  </a:moveTo>
                  <a:lnTo>
                    <a:pt x="536823" y="0"/>
                  </a:lnTo>
                  <a:lnTo>
                    <a:pt x="536823" y="875255"/>
                  </a:lnTo>
                  <a:lnTo>
                    <a:pt x="0" y="875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6" name="Freeform 6"/>
          <p:cNvSpPr/>
          <p:nvPr/>
        </p:nvSpPr>
        <p:spPr>
          <a:xfrm>
            <a:off x="4243556" y="4046762"/>
            <a:ext cx="12251670" cy="5333222"/>
          </a:xfrm>
          <a:custGeom>
            <a:avLst/>
            <a:gdLst/>
            <a:ahLst/>
            <a:cxnLst/>
            <a:rect l="l" t="t" r="r" b="b"/>
            <a:pathLst>
              <a:path w="12251670" h="5333222">
                <a:moveTo>
                  <a:pt x="0" y="0"/>
                </a:moveTo>
                <a:lnTo>
                  <a:pt x="12251670" y="0"/>
                </a:lnTo>
                <a:lnTo>
                  <a:pt x="12251670" y="5333222"/>
                </a:lnTo>
                <a:lnTo>
                  <a:pt x="0" y="53332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13917" b="-9238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7" name="AutoShape 7"/>
          <p:cNvSpPr/>
          <p:nvPr/>
        </p:nvSpPr>
        <p:spPr>
          <a:xfrm>
            <a:off x="2477915" y="3117711"/>
            <a:ext cx="1795747" cy="6237508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802626" y="111021"/>
            <a:ext cx="16218413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>
                <a:solidFill>
                  <a:srgbClr val="FBFBF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Case Study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14447" y="9191625"/>
            <a:ext cx="383170" cy="580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23107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6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243556" y="4094236"/>
            <a:ext cx="3064443" cy="619106"/>
            <a:chOff x="0" y="0"/>
            <a:chExt cx="4085924" cy="825475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4085924" cy="825475"/>
              <a:chOff x="0" y="0"/>
              <a:chExt cx="807096" cy="16305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07096" cy="163057"/>
              </a:xfrm>
              <a:custGeom>
                <a:avLst/>
                <a:gdLst/>
                <a:ahLst/>
                <a:cxnLst/>
                <a:rect l="l" t="t" r="r" b="b"/>
                <a:pathLst>
                  <a:path w="807096" h="163057">
                    <a:moveTo>
                      <a:pt x="81528" y="0"/>
                    </a:moveTo>
                    <a:lnTo>
                      <a:pt x="725568" y="0"/>
                    </a:lnTo>
                    <a:cubicBezTo>
                      <a:pt x="747190" y="0"/>
                      <a:pt x="767927" y="8590"/>
                      <a:pt x="783217" y="23879"/>
                    </a:cubicBezTo>
                    <a:cubicBezTo>
                      <a:pt x="798506" y="39169"/>
                      <a:pt x="807096" y="59906"/>
                      <a:pt x="807096" y="81528"/>
                    </a:cubicBezTo>
                    <a:lnTo>
                      <a:pt x="807096" y="81528"/>
                    </a:lnTo>
                    <a:cubicBezTo>
                      <a:pt x="807096" y="103151"/>
                      <a:pt x="798506" y="123888"/>
                      <a:pt x="783217" y="139178"/>
                    </a:cubicBezTo>
                    <a:cubicBezTo>
                      <a:pt x="767927" y="154467"/>
                      <a:pt x="747190" y="163057"/>
                      <a:pt x="725568" y="163057"/>
                    </a:cubicBezTo>
                    <a:lnTo>
                      <a:pt x="81528" y="163057"/>
                    </a:lnTo>
                    <a:cubicBezTo>
                      <a:pt x="59906" y="163057"/>
                      <a:pt x="39169" y="154467"/>
                      <a:pt x="23879" y="139178"/>
                    </a:cubicBezTo>
                    <a:cubicBezTo>
                      <a:pt x="8590" y="123888"/>
                      <a:pt x="0" y="103151"/>
                      <a:pt x="0" y="81528"/>
                    </a:cubicBezTo>
                    <a:lnTo>
                      <a:pt x="0" y="81528"/>
                    </a:lnTo>
                    <a:cubicBezTo>
                      <a:pt x="0" y="59906"/>
                      <a:pt x="8590" y="39169"/>
                      <a:pt x="23879" y="23879"/>
                    </a:cubicBezTo>
                    <a:cubicBezTo>
                      <a:pt x="39169" y="8590"/>
                      <a:pt x="59906" y="0"/>
                      <a:pt x="81528" y="0"/>
                    </a:cubicBezTo>
                    <a:close/>
                  </a:path>
                </a:pathLst>
              </a:custGeom>
              <a:solidFill>
                <a:srgbClr val="B64C6A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807096" cy="2106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0" y="109922"/>
              <a:ext cx="4001675" cy="558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76"/>
                </a:lnSpc>
              </a:pPr>
              <a:r>
                <a:rPr lang="en-US" sz="2554" b="1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Belvedere glacier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2477915" y="3117711"/>
            <a:ext cx="14017311" cy="97652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60290" y="1273150"/>
            <a:ext cx="524888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Basic Fit</a:t>
            </a:r>
          </a:p>
        </p:txBody>
      </p:sp>
      <p:grpSp>
        <p:nvGrpSpPr>
          <p:cNvPr id="3" name="Group 3"/>
          <p:cNvGrpSpPr/>
          <p:nvPr/>
        </p:nvGrpSpPr>
        <p:grpSpPr>
          <a:xfrm rot="5400000">
            <a:off x="-8041673" y="1895343"/>
            <a:ext cx="12563870" cy="8773184"/>
            <a:chOff x="0" y="0"/>
            <a:chExt cx="660400" cy="4611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461149"/>
            </a:xfrm>
            <a:custGeom>
              <a:avLst/>
              <a:gdLst/>
              <a:ahLst/>
              <a:cxnLst/>
              <a:rect l="l" t="t" r="r" b="b"/>
              <a:pathLst>
                <a:path w="660400" h="461149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0691"/>
                  </a:cubicBezTo>
                  <a:lnTo>
                    <a:pt x="660400" y="461149"/>
                  </a:lnTo>
                  <a:lnTo>
                    <a:pt x="0" y="461149"/>
                  </a:lnTo>
                  <a:lnTo>
                    <a:pt x="0" y="320795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66675" cap="sq">
              <a:solidFill>
                <a:srgbClr val="BEC8DA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88900"/>
              <a:ext cx="660400" cy="3722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6094" y="18874"/>
            <a:ext cx="18288000" cy="1576719"/>
          </a:xfrm>
          <a:custGeom>
            <a:avLst/>
            <a:gdLst/>
            <a:ahLst/>
            <a:cxnLst/>
            <a:rect l="l" t="t" r="r" b="b"/>
            <a:pathLst>
              <a:path w="18288000" h="1576719">
                <a:moveTo>
                  <a:pt x="0" y="0"/>
                </a:moveTo>
                <a:lnTo>
                  <a:pt x="18288000" y="0"/>
                </a:lnTo>
                <a:lnTo>
                  <a:pt x="18288000" y="1576719"/>
                </a:lnTo>
                <a:lnTo>
                  <a:pt x="0" y="1576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58818" b="-513949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1028700" y="206986"/>
            <a:ext cx="16218413" cy="117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 b="1">
                <a:solidFill>
                  <a:srgbClr val="FBFBF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Requirements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36462" y="2604841"/>
            <a:ext cx="6498205" cy="1932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7"/>
              </a:lnSpc>
            </a:pPr>
            <a:endParaRPr/>
          </a:p>
          <a:p>
            <a:pPr marL="483855" lvl="1" indent="-241927" algn="l">
              <a:lnSpc>
                <a:spcPts val="3137"/>
              </a:lnSpc>
              <a:buFont typeface="Arial"/>
              <a:buChar char="•"/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Continous monitoring</a:t>
            </a:r>
          </a:p>
          <a:p>
            <a:pPr marL="483855" lvl="1" indent="-241927" algn="l">
              <a:lnSpc>
                <a:spcPts val="3137"/>
              </a:lnSpc>
              <a:buFont typeface="Arial"/>
              <a:buChar char="•"/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Adequate spatial coverage</a:t>
            </a:r>
          </a:p>
          <a:p>
            <a:pPr marL="483855" lvl="1" indent="-241927" algn="l">
              <a:lnSpc>
                <a:spcPts val="3137"/>
              </a:lnSpc>
              <a:buFont typeface="Arial"/>
              <a:buChar char="•"/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Sufficient image resolution</a:t>
            </a:r>
          </a:p>
          <a:p>
            <a:pPr algn="l">
              <a:lnSpc>
                <a:spcPts val="3137"/>
              </a:lnSpc>
            </a:pPr>
            <a:endParaRPr lang="en-US" sz="2241">
              <a:solidFill>
                <a:srgbClr val="0E0340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143645" y="8607523"/>
            <a:ext cx="1193913" cy="119391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64C6A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837667" y="4369927"/>
            <a:ext cx="1193913" cy="119391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0147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35986" y="2055510"/>
            <a:ext cx="1193913" cy="1193913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015C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933212" y="6621114"/>
            <a:ext cx="1193913" cy="1193913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62C41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215741" y="2193487"/>
            <a:ext cx="6557286" cy="7321649"/>
            <a:chOff x="0" y="0"/>
            <a:chExt cx="812800" cy="90754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907546"/>
            </a:xfrm>
            <a:custGeom>
              <a:avLst/>
              <a:gdLst/>
              <a:ahLst/>
              <a:cxnLst/>
              <a:rect l="l" t="t" r="r" b="b"/>
              <a:pathLst>
                <a:path w="812800" h="907546">
                  <a:moveTo>
                    <a:pt x="0" y="0"/>
                  </a:moveTo>
                  <a:lnTo>
                    <a:pt x="812800" y="0"/>
                  </a:lnTo>
                  <a:lnTo>
                    <a:pt x="812800" y="907546"/>
                  </a:lnTo>
                  <a:lnTo>
                    <a:pt x="0" y="907546"/>
                  </a:lnTo>
                  <a:close/>
                </a:path>
              </a:pathLst>
            </a:custGeom>
            <a:blipFill>
              <a:blip r:embed="rId4"/>
              <a:stretch>
                <a:fillRect l="-9267" t="-7288" b="-23191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3" name="Freeform 23"/>
          <p:cNvSpPr/>
          <p:nvPr/>
        </p:nvSpPr>
        <p:spPr>
          <a:xfrm>
            <a:off x="980634" y="2403157"/>
            <a:ext cx="904615" cy="542769"/>
          </a:xfrm>
          <a:custGeom>
            <a:avLst/>
            <a:gdLst/>
            <a:ahLst/>
            <a:cxnLst/>
            <a:rect l="l" t="t" r="r" b="b"/>
            <a:pathLst>
              <a:path w="904615" h="542769">
                <a:moveTo>
                  <a:pt x="0" y="0"/>
                </a:moveTo>
                <a:lnTo>
                  <a:pt x="904616" y="0"/>
                </a:lnTo>
                <a:lnTo>
                  <a:pt x="904616" y="542770"/>
                </a:lnTo>
                <a:lnTo>
                  <a:pt x="0" y="542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4" name="Freeform 24"/>
          <p:cNvSpPr/>
          <p:nvPr/>
        </p:nvSpPr>
        <p:spPr>
          <a:xfrm>
            <a:off x="1982315" y="4489745"/>
            <a:ext cx="904615" cy="891046"/>
          </a:xfrm>
          <a:custGeom>
            <a:avLst/>
            <a:gdLst/>
            <a:ahLst/>
            <a:cxnLst/>
            <a:rect l="l" t="t" r="r" b="b"/>
            <a:pathLst>
              <a:path w="904615" h="891046">
                <a:moveTo>
                  <a:pt x="0" y="0"/>
                </a:moveTo>
                <a:lnTo>
                  <a:pt x="904616" y="0"/>
                </a:lnTo>
                <a:lnTo>
                  <a:pt x="904616" y="891046"/>
                </a:lnTo>
                <a:lnTo>
                  <a:pt x="0" y="8910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5" name="Freeform 25"/>
          <p:cNvSpPr/>
          <p:nvPr/>
        </p:nvSpPr>
        <p:spPr>
          <a:xfrm>
            <a:off x="2196250" y="6824973"/>
            <a:ext cx="667837" cy="878733"/>
          </a:xfrm>
          <a:custGeom>
            <a:avLst/>
            <a:gdLst/>
            <a:ahLst/>
            <a:cxnLst/>
            <a:rect l="l" t="t" r="r" b="b"/>
            <a:pathLst>
              <a:path w="667837" h="878733">
                <a:moveTo>
                  <a:pt x="0" y="0"/>
                </a:moveTo>
                <a:lnTo>
                  <a:pt x="667837" y="0"/>
                </a:lnTo>
                <a:lnTo>
                  <a:pt x="667837" y="878733"/>
                </a:lnTo>
                <a:lnTo>
                  <a:pt x="0" y="8787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6" name="Freeform 26"/>
          <p:cNvSpPr/>
          <p:nvPr/>
        </p:nvSpPr>
        <p:spPr>
          <a:xfrm>
            <a:off x="1291635" y="8684585"/>
            <a:ext cx="904615" cy="1039788"/>
          </a:xfrm>
          <a:custGeom>
            <a:avLst/>
            <a:gdLst/>
            <a:ahLst/>
            <a:cxnLst/>
            <a:rect l="l" t="t" r="r" b="b"/>
            <a:pathLst>
              <a:path w="904615" h="1039788">
                <a:moveTo>
                  <a:pt x="0" y="0"/>
                </a:moveTo>
                <a:lnTo>
                  <a:pt x="904615" y="0"/>
                </a:lnTo>
                <a:lnTo>
                  <a:pt x="904615" y="1039788"/>
                </a:lnTo>
                <a:lnTo>
                  <a:pt x="0" y="10397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7" name="TextBox 27"/>
          <p:cNvSpPr txBox="1"/>
          <p:nvPr/>
        </p:nvSpPr>
        <p:spPr>
          <a:xfrm>
            <a:off x="17514447" y="9191625"/>
            <a:ext cx="383170" cy="580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23107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7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550260" y="5346069"/>
            <a:ext cx="5467567" cy="767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3855" lvl="1" indent="-241927" algn="l">
              <a:lnSpc>
                <a:spcPts val="3137"/>
              </a:lnSpc>
              <a:buFont typeface="Arial"/>
              <a:buChar char="•"/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Long term operation</a:t>
            </a:r>
          </a:p>
          <a:p>
            <a:pPr marL="483855" lvl="1" indent="-241927" algn="l">
              <a:lnSpc>
                <a:spcPts val="3137"/>
              </a:lnSpc>
              <a:buFont typeface="Arial"/>
              <a:buChar char="•"/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No external power source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15741" y="9496086"/>
            <a:ext cx="6370391" cy="263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97"/>
              </a:lnSpc>
            </a:pPr>
            <a:r>
              <a:rPr lang="en-US" sz="1641" i="1">
                <a:solidFill>
                  <a:srgbClr val="0E0340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Commissioned on site solution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434623" y="2282805"/>
            <a:ext cx="4155168" cy="663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9"/>
              </a:lnSpc>
              <a:spcBef>
                <a:spcPct val="0"/>
              </a:spcBef>
            </a:pPr>
            <a:r>
              <a:rPr lang="en-US" sz="3892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Vigilant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434623" y="8888639"/>
            <a:ext cx="8159843" cy="663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9"/>
              </a:lnSpc>
              <a:spcBef>
                <a:spcPct val="0"/>
              </a:spcBef>
            </a:pPr>
            <a:r>
              <a:rPr lang="en-US" sz="3892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Robust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315338" y="6848410"/>
            <a:ext cx="5340452" cy="663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9"/>
              </a:lnSpc>
              <a:spcBef>
                <a:spcPct val="0"/>
              </a:spcBef>
            </a:pPr>
            <a:r>
              <a:rPr lang="en-US" sz="3892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Connective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315338" y="4597222"/>
            <a:ext cx="4507450" cy="663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9"/>
              </a:lnSpc>
              <a:spcBef>
                <a:spcPct val="0"/>
              </a:spcBef>
            </a:pPr>
            <a:r>
              <a:rPr lang="en-US" sz="3892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Autonomous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550260" y="7597256"/>
            <a:ext cx="5467567" cy="767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3855" lvl="1" indent="-241927" algn="l">
              <a:lnSpc>
                <a:spcPts val="3137"/>
              </a:lnSpc>
              <a:buFont typeface="Arial"/>
              <a:buChar char="•"/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Automatic image transmission</a:t>
            </a:r>
          </a:p>
          <a:p>
            <a:pPr marL="483855" lvl="1" indent="-241927" algn="l">
              <a:lnSpc>
                <a:spcPts val="3137"/>
              </a:lnSpc>
              <a:buFont typeface="Arial"/>
              <a:buChar char="•"/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Remote data availability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626854" y="9637486"/>
            <a:ext cx="5467567" cy="379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3855" lvl="1" indent="-241927" algn="l">
              <a:lnSpc>
                <a:spcPts val="3137"/>
              </a:lnSpc>
              <a:buFont typeface="Arial"/>
              <a:buChar char="•"/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Low maintenance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60290" y="1273150"/>
            <a:ext cx="524888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Basic Fit</a:t>
            </a:r>
          </a:p>
        </p:txBody>
      </p:sp>
      <p:sp>
        <p:nvSpPr>
          <p:cNvPr id="3" name="Freeform 3"/>
          <p:cNvSpPr/>
          <p:nvPr/>
        </p:nvSpPr>
        <p:spPr>
          <a:xfrm>
            <a:off x="-6094" y="18874"/>
            <a:ext cx="18288000" cy="1576719"/>
          </a:xfrm>
          <a:custGeom>
            <a:avLst/>
            <a:gdLst/>
            <a:ahLst/>
            <a:cxnLst/>
            <a:rect l="l" t="t" r="r" b="b"/>
            <a:pathLst>
              <a:path w="18288000" h="1576719">
                <a:moveTo>
                  <a:pt x="0" y="0"/>
                </a:moveTo>
                <a:lnTo>
                  <a:pt x="18288000" y="0"/>
                </a:lnTo>
                <a:lnTo>
                  <a:pt x="18288000" y="1576719"/>
                </a:lnTo>
                <a:lnTo>
                  <a:pt x="0" y="1576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58818" b="-513949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1028700" y="206986"/>
            <a:ext cx="16218413" cy="1177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 b="1">
                <a:solidFill>
                  <a:srgbClr val="FBFBF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Case Study Targets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514447" y="9191625"/>
            <a:ext cx="383170" cy="580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23107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8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656950" y="2761775"/>
            <a:ext cx="4480739" cy="2560394"/>
            <a:chOff x="0" y="-130643"/>
            <a:chExt cx="1083206" cy="6189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83206" cy="488324"/>
            </a:xfrm>
            <a:custGeom>
              <a:avLst/>
              <a:gdLst/>
              <a:ahLst/>
              <a:cxnLst/>
              <a:rect l="l" t="t" r="r" b="b"/>
              <a:pathLst>
                <a:path w="1083206" h="488324">
                  <a:moveTo>
                    <a:pt x="62202" y="0"/>
                  </a:moveTo>
                  <a:lnTo>
                    <a:pt x="1021005" y="0"/>
                  </a:lnTo>
                  <a:cubicBezTo>
                    <a:pt x="1055358" y="0"/>
                    <a:pt x="1083206" y="27849"/>
                    <a:pt x="1083206" y="62202"/>
                  </a:cubicBezTo>
                  <a:lnTo>
                    <a:pt x="1083206" y="426123"/>
                  </a:lnTo>
                  <a:cubicBezTo>
                    <a:pt x="1083206" y="442619"/>
                    <a:pt x="1076653" y="458441"/>
                    <a:pt x="1064988" y="470106"/>
                  </a:cubicBezTo>
                  <a:cubicBezTo>
                    <a:pt x="1053323" y="481771"/>
                    <a:pt x="1037502" y="488324"/>
                    <a:pt x="1021005" y="488324"/>
                  </a:cubicBezTo>
                  <a:lnTo>
                    <a:pt x="62202" y="488324"/>
                  </a:lnTo>
                  <a:cubicBezTo>
                    <a:pt x="27849" y="488324"/>
                    <a:pt x="0" y="460476"/>
                    <a:pt x="0" y="426123"/>
                  </a:cubicBezTo>
                  <a:lnTo>
                    <a:pt x="0" y="62202"/>
                  </a:lnTo>
                  <a:cubicBezTo>
                    <a:pt x="0" y="27849"/>
                    <a:pt x="27849" y="0"/>
                    <a:pt x="62202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30643"/>
              <a:ext cx="1083206" cy="618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999"/>
                </a:lnSpc>
              </a:pPr>
              <a:r>
                <a:rPr lang="en-US" sz="4999" b="1" dirty="0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16 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656950" y="6159273"/>
            <a:ext cx="4480739" cy="2560394"/>
            <a:chOff x="0" y="-130644"/>
            <a:chExt cx="1083206" cy="6189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83206" cy="488324"/>
            </a:xfrm>
            <a:custGeom>
              <a:avLst/>
              <a:gdLst/>
              <a:ahLst/>
              <a:cxnLst/>
              <a:rect l="l" t="t" r="r" b="b"/>
              <a:pathLst>
                <a:path w="1083206" h="488324">
                  <a:moveTo>
                    <a:pt x="62202" y="0"/>
                  </a:moveTo>
                  <a:lnTo>
                    <a:pt x="1021005" y="0"/>
                  </a:lnTo>
                  <a:cubicBezTo>
                    <a:pt x="1055358" y="0"/>
                    <a:pt x="1083206" y="27849"/>
                    <a:pt x="1083206" y="62202"/>
                  </a:cubicBezTo>
                  <a:lnTo>
                    <a:pt x="1083206" y="426123"/>
                  </a:lnTo>
                  <a:cubicBezTo>
                    <a:pt x="1083206" y="442619"/>
                    <a:pt x="1076653" y="458441"/>
                    <a:pt x="1064988" y="470106"/>
                  </a:cubicBezTo>
                  <a:cubicBezTo>
                    <a:pt x="1053323" y="481771"/>
                    <a:pt x="1037502" y="488324"/>
                    <a:pt x="1021005" y="488324"/>
                  </a:cubicBezTo>
                  <a:lnTo>
                    <a:pt x="62202" y="488324"/>
                  </a:lnTo>
                  <a:cubicBezTo>
                    <a:pt x="27849" y="488324"/>
                    <a:pt x="0" y="460476"/>
                    <a:pt x="0" y="426123"/>
                  </a:cubicBezTo>
                  <a:lnTo>
                    <a:pt x="0" y="62202"/>
                  </a:lnTo>
                  <a:cubicBezTo>
                    <a:pt x="0" y="27849"/>
                    <a:pt x="27849" y="0"/>
                    <a:pt x="62202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30644"/>
              <a:ext cx="1083206" cy="618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999"/>
                </a:lnSpc>
              </a:pPr>
              <a:r>
                <a:rPr lang="en-US" sz="4999" b="1" dirty="0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15 Min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890594" y="2761771"/>
            <a:ext cx="4480739" cy="2560394"/>
            <a:chOff x="0" y="-130644"/>
            <a:chExt cx="1083206" cy="6189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83206" cy="488324"/>
            </a:xfrm>
            <a:custGeom>
              <a:avLst/>
              <a:gdLst/>
              <a:ahLst/>
              <a:cxnLst/>
              <a:rect l="l" t="t" r="r" b="b"/>
              <a:pathLst>
                <a:path w="1083206" h="488324">
                  <a:moveTo>
                    <a:pt x="62202" y="0"/>
                  </a:moveTo>
                  <a:lnTo>
                    <a:pt x="1021005" y="0"/>
                  </a:lnTo>
                  <a:cubicBezTo>
                    <a:pt x="1055358" y="0"/>
                    <a:pt x="1083206" y="27849"/>
                    <a:pt x="1083206" y="62202"/>
                  </a:cubicBezTo>
                  <a:lnTo>
                    <a:pt x="1083206" y="426123"/>
                  </a:lnTo>
                  <a:cubicBezTo>
                    <a:pt x="1083206" y="442619"/>
                    <a:pt x="1076653" y="458441"/>
                    <a:pt x="1064988" y="470106"/>
                  </a:cubicBezTo>
                  <a:cubicBezTo>
                    <a:pt x="1053323" y="481771"/>
                    <a:pt x="1037502" y="488324"/>
                    <a:pt x="1021005" y="488324"/>
                  </a:cubicBezTo>
                  <a:lnTo>
                    <a:pt x="62202" y="488324"/>
                  </a:lnTo>
                  <a:cubicBezTo>
                    <a:pt x="27849" y="488324"/>
                    <a:pt x="0" y="460476"/>
                    <a:pt x="0" y="426123"/>
                  </a:cubicBezTo>
                  <a:lnTo>
                    <a:pt x="0" y="62202"/>
                  </a:lnTo>
                  <a:cubicBezTo>
                    <a:pt x="0" y="27849"/>
                    <a:pt x="27849" y="0"/>
                    <a:pt x="62202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30644"/>
              <a:ext cx="1083206" cy="618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999"/>
                </a:lnSpc>
              </a:pPr>
              <a:r>
                <a:rPr lang="en-US" sz="4999" b="1" dirty="0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1 cm/</a:t>
              </a:r>
              <a:r>
                <a:rPr lang="en-US" sz="4999" b="1" dirty="0" err="1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px</a:t>
              </a:r>
              <a:endParaRPr lang="en-US" sz="4999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904479" y="2335991"/>
            <a:ext cx="3851970" cy="663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9"/>
              </a:lnSpc>
              <a:spcBef>
                <a:spcPct val="0"/>
              </a:spcBef>
            </a:pPr>
            <a:r>
              <a:rPr lang="en-US" sz="3892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Riverbed width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04479" y="5731740"/>
            <a:ext cx="4785727" cy="663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9"/>
              </a:lnSpc>
              <a:spcBef>
                <a:spcPct val="0"/>
              </a:spcBef>
            </a:pPr>
            <a:r>
              <a:rPr lang="en-US" sz="3892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Acquisition interval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101474" y="2335963"/>
            <a:ext cx="4155168" cy="663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9"/>
              </a:lnSpc>
              <a:spcBef>
                <a:spcPct val="0"/>
              </a:spcBef>
            </a:pPr>
            <a:r>
              <a:rPr lang="en-US" sz="3892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Ground resolution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101474" y="5822880"/>
            <a:ext cx="4155168" cy="663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9"/>
              </a:lnSpc>
              <a:spcBef>
                <a:spcPct val="0"/>
              </a:spcBef>
            </a:pPr>
            <a:r>
              <a:rPr lang="en-US" sz="3892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Long term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134761" y="4550414"/>
            <a:ext cx="3525117" cy="771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7"/>
              </a:lnSpc>
            </a:pPr>
            <a:r>
              <a:rPr lang="en-US" sz="2241" dirty="0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Width between riverbanks, regardless of water level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043892" y="4550342"/>
            <a:ext cx="4174145" cy="771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7"/>
              </a:lnSpc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Target ground resolution required for data extraction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10248" y="7934209"/>
            <a:ext cx="4174145" cy="771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7"/>
              </a:lnSpc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Time between successive acquisitions for time resolution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1890594" y="6159273"/>
            <a:ext cx="4480739" cy="2560394"/>
            <a:chOff x="0" y="-130644"/>
            <a:chExt cx="1083206" cy="61896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83206" cy="488324"/>
            </a:xfrm>
            <a:custGeom>
              <a:avLst/>
              <a:gdLst/>
              <a:ahLst/>
              <a:cxnLst/>
              <a:rect l="l" t="t" r="r" b="b"/>
              <a:pathLst>
                <a:path w="1083206" h="488324">
                  <a:moveTo>
                    <a:pt x="62202" y="0"/>
                  </a:moveTo>
                  <a:lnTo>
                    <a:pt x="1021005" y="0"/>
                  </a:lnTo>
                  <a:cubicBezTo>
                    <a:pt x="1055358" y="0"/>
                    <a:pt x="1083206" y="27849"/>
                    <a:pt x="1083206" y="62202"/>
                  </a:cubicBezTo>
                  <a:lnTo>
                    <a:pt x="1083206" y="426123"/>
                  </a:lnTo>
                  <a:cubicBezTo>
                    <a:pt x="1083206" y="442619"/>
                    <a:pt x="1076653" y="458441"/>
                    <a:pt x="1064988" y="470106"/>
                  </a:cubicBezTo>
                  <a:cubicBezTo>
                    <a:pt x="1053323" y="481771"/>
                    <a:pt x="1037502" y="488324"/>
                    <a:pt x="1021005" y="488324"/>
                  </a:cubicBezTo>
                  <a:lnTo>
                    <a:pt x="62202" y="488324"/>
                  </a:lnTo>
                  <a:cubicBezTo>
                    <a:pt x="27849" y="488324"/>
                    <a:pt x="0" y="460476"/>
                    <a:pt x="0" y="426123"/>
                  </a:cubicBezTo>
                  <a:lnTo>
                    <a:pt x="0" y="62202"/>
                  </a:lnTo>
                  <a:cubicBezTo>
                    <a:pt x="0" y="27849"/>
                    <a:pt x="27849" y="0"/>
                    <a:pt x="62202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30644"/>
              <a:ext cx="1083206" cy="618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999"/>
                </a:lnSpc>
              </a:pPr>
              <a:r>
                <a:rPr lang="en-US" sz="4999" b="1" dirty="0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Multi-year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2043892" y="7934209"/>
            <a:ext cx="4174145" cy="771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7"/>
              </a:lnSpc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Positive energy margin throughout the year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60290" y="1273150"/>
            <a:ext cx="524888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Basic Fit</a:t>
            </a:r>
          </a:p>
        </p:txBody>
      </p:sp>
      <p:grpSp>
        <p:nvGrpSpPr>
          <p:cNvPr id="3" name="Group 3"/>
          <p:cNvGrpSpPr/>
          <p:nvPr/>
        </p:nvGrpSpPr>
        <p:grpSpPr>
          <a:xfrm rot="5400000">
            <a:off x="-6979723" y="1895343"/>
            <a:ext cx="12563870" cy="8773184"/>
            <a:chOff x="0" y="0"/>
            <a:chExt cx="660400" cy="4611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461149"/>
            </a:xfrm>
            <a:custGeom>
              <a:avLst/>
              <a:gdLst/>
              <a:ahLst/>
              <a:cxnLst/>
              <a:rect l="l" t="t" r="r" b="b"/>
              <a:pathLst>
                <a:path w="660400" h="461149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0691"/>
                  </a:cubicBezTo>
                  <a:lnTo>
                    <a:pt x="660400" y="461149"/>
                  </a:lnTo>
                  <a:lnTo>
                    <a:pt x="0" y="461149"/>
                  </a:lnTo>
                  <a:lnTo>
                    <a:pt x="0" y="320795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66675" cap="sq">
              <a:solidFill>
                <a:srgbClr val="BEC8DA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88900"/>
              <a:ext cx="660400" cy="3722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494892" y="7952232"/>
            <a:ext cx="1193913" cy="119391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64C6A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823121" y="3902877"/>
            <a:ext cx="1193913" cy="119391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0147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928762" y="1880289"/>
            <a:ext cx="1193913" cy="119391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015C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-6094" y="18874"/>
            <a:ext cx="18288000" cy="1576719"/>
          </a:xfrm>
          <a:custGeom>
            <a:avLst/>
            <a:gdLst/>
            <a:ahLst/>
            <a:cxnLst/>
            <a:rect l="l" t="t" r="r" b="b"/>
            <a:pathLst>
              <a:path w="18288000" h="1576719">
                <a:moveTo>
                  <a:pt x="0" y="0"/>
                </a:moveTo>
                <a:lnTo>
                  <a:pt x="18288000" y="0"/>
                </a:lnTo>
                <a:lnTo>
                  <a:pt x="18288000" y="1576719"/>
                </a:lnTo>
                <a:lnTo>
                  <a:pt x="0" y="1576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58818" b="-513949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6" name="Group 16"/>
          <p:cNvGrpSpPr/>
          <p:nvPr/>
        </p:nvGrpSpPr>
        <p:grpSpPr>
          <a:xfrm>
            <a:off x="3122674" y="5929645"/>
            <a:ext cx="1193913" cy="1193913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62C41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3228118" y="2815496"/>
            <a:ext cx="386069" cy="386069"/>
          </a:xfrm>
          <a:custGeom>
            <a:avLst/>
            <a:gdLst/>
            <a:ahLst/>
            <a:cxnLst/>
            <a:rect l="l" t="t" r="r" b="b"/>
            <a:pathLst>
              <a:path w="386069" h="386069">
                <a:moveTo>
                  <a:pt x="0" y="0"/>
                </a:moveTo>
                <a:lnTo>
                  <a:pt x="386069" y="0"/>
                </a:lnTo>
                <a:lnTo>
                  <a:pt x="386069" y="386069"/>
                </a:lnTo>
                <a:lnTo>
                  <a:pt x="0" y="3860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0" name="Freeform 20"/>
          <p:cNvSpPr/>
          <p:nvPr/>
        </p:nvSpPr>
        <p:spPr>
          <a:xfrm>
            <a:off x="4017034" y="4840919"/>
            <a:ext cx="386069" cy="386069"/>
          </a:xfrm>
          <a:custGeom>
            <a:avLst/>
            <a:gdLst/>
            <a:ahLst/>
            <a:cxnLst/>
            <a:rect l="l" t="t" r="r" b="b"/>
            <a:pathLst>
              <a:path w="386069" h="386069">
                <a:moveTo>
                  <a:pt x="0" y="0"/>
                </a:moveTo>
                <a:lnTo>
                  <a:pt x="386069" y="0"/>
                </a:lnTo>
                <a:lnTo>
                  <a:pt x="386069" y="386069"/>
                </a:lnTo>
                <a:lnTo>
                  <a:pt x="0" y="3860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1" name="Freeform 21"/>
          <p:cNvSpPr/>
          <p:nvPr/>
        </p:nvSpPr>
        <p:spPr>
          <a:xfrm>
            <a:off x="4234949" y="6869620"/>
            <a:ext cx="386069" cy="386069"/>
          </a:xfrm>
          <a:custGeom>
            <a:avLst/>
            <a:gdLst/>
            <a:ahLst/>
            <a:cxnLst/>
            <a:rect l="l" t="t" r="r" b="b"/>
            <a:pathLst>
              <a:path w="386069" h="386069">
                <a:moveTo>
                  <a:pt x="0" y="0"/>
                </a:moveTo>
                <a:lnTo>
                  <a:pt x="386070" y="0"/>
                </a:lnTo>
                <a:lnTo>
                  <a:pt x="386070" y="386069"/>
                </a:lnTo>
                <a:lnTo>
                  <a:pt x="0" y="3860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2" name="Freeform 22"/>
          <p:cNvSpPr/>
          <p:nvPr/>
        </p:nvSpPr>
        <p:spPr>
          <a:xfrm>
            <a:off x="3719630" y="8890274"/>
            <a:ext cx="386069" cy="386069"/>
          </a:xfrm>
          <a:custGeom>
            <a:avLst/>
            <a:gdLst/>
            <a:ahLst/>
            <a:cxnLst/>
            <a:rect l="l" t="t" r="r" b="b"/>
            <a:pathLst>
              <a:path w="386069" h="386069">
                <a:moveTo>
                  <a:pt x="0" y="0"/>
                </a:moveTo>
                <a:lnTo>
                  <a:pt x="386070" y="0"/>
                </a:lnTo>
                <a:lnTo>
                  <a:pt x="386070" y="386069"/>
                </a:lnTo>
                <a:lnTo>
                  <a:pt x="0" y="3860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23" name="Group 23"/>
          <p:cNvGrpSpPr/>
          <p:nvPr/>
        </p:nvGrpSpPr>
        <p:grpSpPr>
          <a:xfrm>
            <a:off x="3228118" y="3300085"/>
            <a:ext cx="406325" cy="145473"/>
            <a:chOff x="0" y="0"/>
            <a:chExt cx="234061" cy="8377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34061" cy="83777"/>
            </a:xfrm>
            <a:custGeom>
              <a:avLst/>
              <a:gdLst/>
              <a:ahLst/>
              <a:cxnLst/>
              <a:rect l="l" t="t" r="r" b="b"/>
              <a:pathLst>
                <a:path w="234061" h="83777">
                  <a:moveTo>
                    <a:pt x="234061" y="41888"/>
                  </a:moveTo>
                  <a:lnTo>
                    <a:pt x="234061" y="41888"/>
                  </a:lnTo>
                  <a:cubicBezTo>
                    <a:pt x="234061" y="65023"/>
                    <a:pt x="215307" y="83777"/>
                    <a:pt x="192173" y="83777"/>
                  </a:cubicBezTo>
                  <a:lnTo>
                    <a:pt x="41888" y="83777"/>
                  </a:lnTo>
                  <a:cubicBezTo>
                    <a:pt x="18754" y="83777"/>
                    <a:pt x="0" y="65023"/>
                    <a:pt x="0" y="41888"/>
                  </a:cubicBezTo>
                  <a:lnTo>
                    <a:pt x="0" y="41888"/>
                  </a:lnTo>
                  <a:cubicBezTo>
                    <a:pt x="0" y="18754"/>
                    <a:pt x="18754" y="0"/>
                    <a:pt x="41888" y="0"/>
                  </a:cubicBezTo>
                  <a:lnTo>
                    <a:pt x="192173" y="0"/>
                  </a:lnTo>
                  <a:cubicBezTo>
                    <a:pt x="203282" y="0"/>
                    <a:pt x="213937" y="4413"/>
                    <a:pt x="221792" y="12269"/>
                  </a:cubicBezTo>
                  <a:cubicBezTo>
                    <a:pt x="229648" y="20124"/>
                    <a:pt x="234061" y="30779"/>
                    <a:pt x="234061" y="41888"/>
                  </a:cubicBezTo>
                  <a:close/>
                </a:path>
              </a:pathLst>
            </a:custGeom>
            <a:solidFill>
              <a:srgbClr val="B64C6A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234061" cy="121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031787" y="5327147"/>
            <a:ext cx="406325" cy="145473"/>
            <a:chOff x="0" y="0"/>
            <a:chExt cx="234061" cy="8377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34061" cy="83777"/>
            </a:xfrm>
            <a:custGeom>
              <a:avLst/>
              <a:gdLst/>
              <a:ahLst/>
              <a:cxnLst/>
              <a:rect l="l" t="t" r="r" b="b"/>
              <a:pathLst>
                <a:path w="234061" h="83777">
                  <a:moveTo>
                    <a:pt x="234061" y="41888"/>
                  </a:moveTo>
                  <a:lnTo>
                    <a:pt x="234061" y="41888"/>
                  </a:lnTo>
                  <a:cubicBezTo>
                    <a:pt x="234061" y="65023"/>
                    <a:pt x="215307" y="83777"/>
                    <a:pt x="192173" y="83777"/>
                  </a:cubicBezTo>
                  <a:lnTo>
                    <a:pt x="41888" y="83777"/>
                  </a:lnTo>
                  <a:cubicBezTo>
                    <a:pt x="18754" y="83777"/>
                    <a:pt x="0" y="65023"/>
                    <a:pt x="0" y="41888"/>
                  </a:cubicBezTo>
                  <a:lnTo>
                    <a:pt x="0" y="41888"/>
                  </a:lnTo>
                  <a:cubicBezTo>
                    <a:pt x="0" y="18754"/>
                    <a:pt x="18754" y="0"/>
                    <a:pt x="41888" y="0"/>
                  </a:cubicBezTo>
                  <a:lnTo>
                    <a:pt x="192173" y="0"/>
                  </a:lnTo>
                  <a:cubicBezTo>
                    <a:pt x="203282" y="0"/>
                    <a:pt x="213937" y="4413"/>
                    <a:pt x="221792" y="12269"/>
                  </a:cubicBezTo>
                  <a:cubicBezTo>
                    <a:pt x="229648" y="20124"/>
                    <a:pt x="234061" y="30779"/>
                    <a:pt x="234061" y="41888"/>
                  </a:cubicBezTo>
                  <a:close/>
                </a:path>
              </a:pathLst>
            </a:custGeom>
            <a:solidFill>
              <a:srgbClr val="B64C6A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234061" cy="121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224822" y="7360464"/>
            <a:ext cx="406325" cy="145473"/>
            <a:chOff x="0" y="0"/>
            <a:chExt cx="234061" cy="8377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34061" cy="83777"/>
            </a:xfrm>
            <a:custGeom>
              <a:avLst/>
              <a:gdLst/>
              <a:ahLst/>
              <a:cxnLst/>
              <a:rect l="l" t="t" r="r" b="b"/>
              <a:pathLst>
                <a:path w="234061" h="83777">
                  <a:moveTo>
                    <a:pt x="234061" y="41888"/>
                  </a:moveTo>
                  <a:lnTo>
                    <a:pt x="234061" y="41888"/>
                  </a:lnTo>
                  <a:cubicBezTo>
                    <a:pt x="234061" y="65023"/>
                    <a:pt x="215307" y="83777"/>
                    <a:pt x="192173" y="83777"/>
                  </a:cubicBezTo>
                  <a:lnTo>
                    <a:pt x="41888" y="83777"/>
                  </a:lnTo>
                  <a:cubicBezTo>
                    <a:pt x="18754" y="83777"/>
                    <a:pt x="0" y="65023"/>
                    <a:pt x="0" y="41888"/>
                  </a:cubicBezTo>
                  <a:lnTo>
                    <a:pt x="0" y="41888"/>
                  </a:lnTo>
                  <a:cubicBezTo>
                    <a:pt x="0" y="18754"/>
                    <a:pt x="18754" y="0"/>
                    <a:pt x="41888" y="0"/>
                  </a:cubicBezTo>
                  <a:lnTo>
                    <a:pt x="192173" y="0"/>
                  </a:lnTo>
                  <a:cubicBezTo>
                    <a:pt x="203282" y="0"/>
                    <a:pt x="213937" y="4413"/>
                    <a:pt x="221792" y="12269"/>
                  </a:cubicBezTo>
                  <a:cubicBezTo>
                    <a:pt x="229648" y="20124"/>
                    <a:pt x="234061" y="30779"/>
                    <a:pt x="234061" y="41888"/>
                  </a:cubicBezTo>
                  <a:close/>
                </a:path>
              </a:pathLst>
            </a:custGeom>
            <a:solidFill>
              <a:srgbClr val="B64C6A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234061" cy="121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>
            <a:off x="2031121" y="2217582"/>
            <a:ext cx="989194" cy="519327"/>
          </a:xfrm>
          <a:custGeom>
            <a:avLst/>
            <a:gdLst/>
            <a:ahLst/>
            <a:cxnLst/>
            <a:rect l="l" t="t" r="r" b="b"/>
            <a:pathLst>
              <a:path w="989194" h="519327">
                <a:moveTo>
                  <a:pt x="0" y="0"/>
                </a:moveTo>
                <a:lnTo>
                  <a:pt x="989194" y="0"/>
                </a:lnTo>
                <a:lnTo>
                  <a:pt x="989194" y="519327"/>
                </a:lnTo>
                <a:lnTo>
                  <a:pt x="0" y="519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3" name="Freeform 33"/>
          <p:cNvSpPr/>
          <p:nvPr/>
        </p:nvSpPr>
        <p:spPr>
          <a:xfrm>
            <a:off x="3027625" y="4098196"/>
            <a:ext cx="807310" cy="803273"/>
          </a:xfrm>
          <a:custGeom>
            <a:avLst/>
            <a:gdLst/>
            <a:ahLst/>
            <a:cxnLst/>
            <a:rect l="l" t="t" r="r" b="b"/>
            <a:pathLst>
              <a:path w="807310" h="803273">
                <a:moveTo>
                  <a:pt x="0" y="0"/>
                </a:moveTo>
                <a:lnTo>
                  <a:pt x="807310" y="0"/>
                </a:lnTo>
                <a:lnTo>
                  <a:pt x="807310" y="803273"/>
                </a:lnTo>
                <a:lnTo>
                  <a:pt x="0" y="803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4" name="Freeform 34"/>
          <p:cNvSpPr/>
          <p:nvPr/>
        </p:nvSpPr>
        <p:spPr>
          <a:xfrm>
            <a:off x="2614063" y="8188461"/>
            <a:ext cx="955570" cy="721455"/>
          </a:xfrm>
          <a:custGeom>
            <a:avLst/>
            <a:gdLst/>
            <a:ahLst/>
            <a:cxnLst/>
            <a:rect l="l" t="t" r="r" b="b"/>
            <a:pathLst>
              <a:path w="955570" h="721455">
                <a:moveTo>
                  <a:pt x="0" y="0"/>
                </a:moveTo>
                <a:lnTo>
                  <a:pt x="955570" y="0"/>
                </a:lnTo>
                <a:lnTo>
                  <a:pt x="955570" y="721455"/>
                </a:lnTo>
                <a:lnTo>
                  <a:pt x="0" y="7214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5" name="TextBox 35"/>
          <p:cNvSpPr txBox="1"/>
          <p:nvPr/>
        </p:nvSpPr>
        <p:spPr>
          <a:xfrm>
            <a:off x="3929941" y="8179527"/>
            <a:ext cx="8159843" cy="663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9"/>
              </a:lnSpc>
              <a:spcBef>
                <a:spcPct val="0"/>
              </a:spcBef>
            </a:pPr>
            <a:r>
              <a:rPr lang="en-US" sz="3892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RGB camera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538674" y="6156940"/>
            <a:ext cx="6942379" cy="663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9"/>
              </a:lnSpc>
              <a:spcBef>
                <a:spcPct val="0"/>
              </a:spcBef>
            </a:pPr>
            <a:r>
              <a:rPr lang="en-US" sz="3892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Infra Red camera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3447710" y="6074096"/>
            <a:ext cx="543841" cy="905010"/>
            <a:chOff x="0" y="0"/>
            <a:chExt cx="725121" cy="1206681"/>
          </a:xfrm>
        </p:grpSpPr>
        <p:sp>
          <p:nvSpPr>
            <p:cNvPr id="38" name="Freeform 38"/>
            <p:cNvSpPr/>
            <p:nvPr/>
          </p:nvSpPr>
          <p:spPr>
            <a:xfrm>
              <a:off x="127929" y="0"/>
              <a:ext cx="469263" cy="234632"/>
            </a:xfrm>
            <a:custGeom>
              <a:avLst/>
              <a:gdLst/>
              <a:ahLst/>
              <a:cxnLst/>
              <a:rect l="l" t="t" r="r" b="b"/>
              <a:pathLst>
                <a:path w="469263" h="234632">
                  <a:moveTo>
                    <a:pt x="0" y="0"/>
                  </a:moveTo>
                  <a:lnTo>
                    <a:pt x="469263" y="0"/>
                  </a:lnTo>
                  <a:lnTo>
                    <a:pt x="469263" y="234632"/>
                  </a:lnTo>
                  <a:lnTo>
                    <a:pt x="0" y="234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127929" y="230131"/>
              <a:ext cx="469263" cy="513173"/>
              <a:chOff x="0" y="0"/>
              <a:chExt cx="544282" cy="595211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544282" cy="595211"/>
              </a:xfrm>
              <a:custGeom>
                <a:avLst/>
                <a:gdLst/>
                <a:ahLst/>
                <a:cxnLst/>
                <a:rect l="l" t="t" r="r" b="b"/>
                <a:pathLst>
                  <a:path w="544282" h="595211">
                    <a:moveTo>
                      <a:pt x="0" y="0"/>
                    </a:moveTo>
                    <a:lnTo>
                      <a:pt x="544282" y="0"/>
                    </a:lnTo>
                    <a:lnTo>
                      <a:pt x="544282" y="595211"/>
                    </a:lnTo>
                    <a:lnTo>
                      <a:pt x="0" y="59521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38100"/>
                <a:ext cx="544282" cy="6333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0" y="732224"/>
              <a:ext cx="725121" cy="83159"/>
              <a:chOff x="0" y="0"/>
              <a:chExt cx="841042" cy="96453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41042" cy="96453"/>
              </a:xfrm>
              <a:custGeom>
                <a:avLst/>
                <a:gdLst/>
                <a:ahLst/>
                <a:cxnLst/>
                <a:rect l="l" t="t" r="r" b="b"/>
                <a:pathLst>
                  <a:path w="841042" h="96453">
                    <a:moveTo>
                      <a:pt x="0" y="0"/>
                    </a:moveTo>
                    <a:lnTo>
                      <a:pt x="841042" y="0"/>
                    </a:lnTo>
                    <a:lnTo>
                      <a:pt x="841042" y="96453"/>
                    </a:lnTo>
                    <a:lnTo>
                      <a:pt x="0" y="9645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38100"/>
                <a:ext cx="841042" cy="1345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200161" y="772420"/>
              <a:ext cx="54300" cy="371268"/>
              <a:chOff x="0" y="0"/>
              <a:chExt cx="62981" cy="430621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62981" cy="430621"/>
              </a:xfrm>
              <a:custGeom>
                <a:avLst/>
                <a:gdLst/>
                <a:ahLst/>
                <a:cxnLst/>
                <a:rect l="l" t="t" r="r" b="b"/>
                <a:pathLst>
                  <a:path w="62981" h="430621">
                    <a:moveTo>
                      <a:pt x="31490" y="0"/>
                    </a:moveTo>
                    <a:lnTo>
                      <a:pt x="31490" y="0"/>
                    </a:lnTo>
                    <a:cubicBezTo>
                      <a:pt x="48882" y="0"/>
                      <a:pt x="62981" y="14099"/>
                      <a:pt x="62981" y="31490"/>
                    </a:cubicBezTo>
                    <a:lnTo>
                      <a:pt x="62981" y="399130"/>
                    </a:lnTo>
                    <a:cubicBezTo>
                      <a:pt x="62981" y="407482"/>
                      <a:pt x="59663" y="415492"/>
                      <a:pt x="53757" y="421397"/>
                    </a:cubicBezTo>
                    <a:cubicBezTo>
                      <a:pt x="47852" y="427303"/>
                      <a:pt x="39842" y="430621"/>
                      <a:pt x="31490" y="430621"/>
                    </a:cubicBezTo>
                    <a:lnTo>
                      <a:pt x="31490" y="430621"/>
                    </a:lnTo>
                    <a:cubicBezTo>
                      <a:pt x="14099" y="430621"/>
                      <a:pt x="0" y="416522"/>
                      <a:pt x="0" y="399130"/>
                    </a:cubicBezTo>
                    <a:lnTo>
                      <a:pt x="0" y="31490"/>
                    </a:lnTo>
                    <a:cubicBezTo>
                      <a:pt x="0" y="23139"/>
                      <a:pt x="3318" y="15129"/>
                      <a:pt x="9223" y="9223"/>
                    </a:cubicBezTo>
                    <a:cubicBezTo>
                      <a:pt x="15129" y="3318"/>
                      <a:pt x="23139" y="0"/>
                      <a:pt x="3149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-38100"/>
                <a:ext cx="62981" cy="4687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446957" y="745109"/>
              <a:ext cx="54300" cy="461571"/>
              <a:chOff x="0" y="0"/>
              <a:chExt cx="62981" cy="53536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62981" cy="535360"/>
              </a:xfrm>
              <a:custGeom>
                <a:avLst/>
                <a:gdLst/>
                <a:ahLst/>
                <a:cxnLst/>
                <a:rect l="l" t="t" r="r" b="b"/>
                <a:pathLst>
                  <a:path w="62981" h="535360">
                    <a:moveTo>
                      <a:pt x="31490" y="0"/>
                    </a:moveTo>
                    <a:lnTo>
                      <a:pt x="31490" y="0"/>
                    </a:lnTo>
                    <a:cubicBezTo>
                      <a:pt x="48882" y="0"/>
                      <a:pt x="62981" y="14099"/>
                      <a:pt x="62981" y="31490"/>
                    </a:cubicBezTo>
                    <a:lnTo>
                      <a:pt x="62981" y="503869"/>
                    </a:lnTo>
                    <a:cubicBezTo>
                      <a:pt x="62981" y="512221"/>
                      <a:pt x="59663" y="520231"/>
                      <a:pt x="53757" y="526136"/>
                    </a:cubicBezTo>
                    <a:cubicBezTo>
                      <a:pt x="47852" y="532042"/>
                      <a:pt x="39842" y="535360"/>
                      <a:pt x="31490" y="535360"/>
                    </a:cubicBezTo>
                    <a:lnTo>
                      <a:pt x="31490" y="535360"/>
                    </a:lnTo>
                    <a:cubicBezTo>
                      <a:pt x="14099" y="535360"/>
                      <a:pt x="0" y="521261"/>
                      <a:pt x="0" y="503869"/>
                    </a:cubicBezTo>
                    <a:lnTo>
                      <a:pt x="0" y="31490"/>
                    </a:lnTo>
                    <a:cubicBezTo>
                      <a:pt x="0" y="23139"/>
                      <a:pt x="3318" y="15129"/>
                      <a:pt x="9223" y="9223"/>
                    </a:cubicBezTo>
                    <a:cubicBezTo>
                      <a:pt x="15129" y="3318"/>
                      <a:pt x="23139" y="0"/>
                      <a:pt x="3149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0" y="-38100"/>
                <a:ext cx="62981" cy="5734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</p:grpSp>
      <p:sp>
        <p:nvSpPr>
          <p:cNvPr id="51" name="Freeform 51"/>
          <p:cNvSpPr/>
          <p:nvPr/>
        </p:nvSpPr>
        <p:spPr>
          <a:xfrm>
            <a:off x="10351185" y="5565045"/>
            <a:ext cx="2891734" cy="2891734"/>
          </a:xfrm>
          <a:custGeom>
            <a:avLst/>
            <a:gdLst/>
            <a:ahLst/>
            <a:cxnLst/>
            <a:rect l="l" t="t" r="r" b="b"/>
            <a:pathLst>
              <a:path w="2891734" h="2891734">
                <a:moveTo>
                  <a:pt x="0" y="0"/>
                </a:moveTo>
                <a:lnTo>
                  <a:pt x="2891735" y="0"/>
                </a:lnTo>
                <a:lnTo>
                  <a:pt x="2891735" y="2891734"/>
                </a:lnTo>
                <a:lnTo>
                  <a:pt x="0" y="28917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Box 52"/>
          <p:cNvSpPr txBox="1"/>
          <p:nvPr/>
        </p:nvSpPr>
        <p:spPr>
          <a:xfrm>
            <a:off x="12756535" y="9383586"/>
            <a:ext cx="2245210" cy="263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97"/>
              </a:lnSpc>
            </a:pPr>
            <a:r>
              <a:rPr lang="en-US" sz="1641" i="1">
                <a:solidFill>
                  <a:srgbClr val="0E0340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Tikee4X RGB camera</a:t>
            </a:r>
          </a:p>
        </p:txBody>
      </p:sp>
      <p:sp>
        <p:nvSpPr>
          <p:cNvPr id="53" name="Freeform 53"/>
          <p:cNvSpPr/>
          <p:nvPr/>
        </p:nvSpPr>
        <p:spPr>
          <a:xfrm>
            <a:off x="12756535" y="7695741"/>
            <a:ext cx="3772144" cy="1706895"/>
          </a:xfrm>
          <a:custGeom>
            <a:avLst/>
            <a:gdLst/>
            <a:ahLst/>
            <a:cxnLst/>
            <a:rect l="l" t="t" r="r" b="b"/>
            <a:pathLst>
              <a:path w="3772144" h="1706895">
                <a:moveTo>
                  <a:pt x="0" y="0"/>
                </a:moveTo>
                <a:lnTo>
                  <a:pt x="3772143" y="0"/>
                </a:lnTo>
                <a:lnTo>
                  <a:pt x="3772143" y="1706895"/>
                </a:lnTo>
                <a:lnTo>
                  <a:pt x="0" y="170689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54" name="Freeform 54"/>
          <p:cNvSpPr/>
          <p:nvPr/>
        </p:nvSpPr>
        <p:spPr>
          <a:xfrm>
            <a:off x="10865122" y="1837813"/>
            <a:ext cx="3782826" cy="2127840"/>
          </a:xfrm>
          <a:custGeom>
            <a:avLst/>
            <a:gdLst/>
            <a:ahLst/>
            <a:cxnLst/>
            <a:rect l="l" t="t" r="r" b="b"/>
            <a:pathLst>
              <a:path w="3782826" h="2127840">
                <a:moveTo>
                  <a:pt x="0" y="0"/>
                </a:moveTo>
                <a:lnTo>
                  <a:pt x="3782826" y="0"/>
                </a:lnTo>
                <a:lnTo>
                  <a:pt x="3782826" y="2127840"/>
                </a:lnTo>
                <a:lnTo>
                  <a:pt x="0" y="212784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55" name="Freeform 55"/>
          <p:cNvSpPr/>
          <p:nvPr/>
        </p:nvSpPr>
        <p:spPr>
          <a:xfrm>
            <a:off x="13347695" y="3773247"/>
            <a:ext cx="3250950" cy="2135343"/>
          </a:xfrm>
          <a:custGeom>
            <a:avLst/>
            <a:gdLst/>
            <a:ahLst/>
            <a:cxnLst/>
            <a:rect l="l" t="t" r="r" b="b"/>
            <a:pathLst>
              <a:path w="3250950" h="2135343">
                <a:moveTo>
                  <a:pt x="0" y="0"/>
                </a:moveTo>
                <a:lnTo>
                  <a:pt x="3250950" y="0"/>
                </a:lnTo>
                <a:lnTo>
                  <a:pt x="3250950" y="2135343"/>
                </a:lnTo>
                <a:lnTo>
                  <a:pt x="0" y="213534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Box 56"/>
          <p:cNvSpPr txBox="1"/>
          <p:nvPr/>
        </p:nvSpPr>
        <p:spPr>
          <a:xfrm>
            <a:off x="4538674" y="4793294"/>
            <a:ext cx="6498205" cy="771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Direct  measurement and night-time operation</a:t>
            </a:r>
          </a:p>
          <a:p>
            <a:pPr algn="l">
              <a:lnSpc>
                <a:spcPts val="3137"/>
              </a:lnSpc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Variable Riverbed and vulnerability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28700" y="206986"/>
            <a:ext cx="16218413" cy="1177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 b="1">
                <a:solidFill>
                  <a:srgbClr val="FBFBF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Exploring Alternatives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7514447" y="9191625"/>
            <a:ext cx="383170" cy="580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23107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9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580460" y="2107584"/>
            <a:ext cx="6942379" cy="663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9"/>
              </a:lnSpc>
              <a:spcBef>
                <a:spcPct val="0"/>
              </a:spcBef>
            </a:pPr>
            <a:r>
              <a:rPr lang="en-US" sz="3892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Autonomous drone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719630" y="2767871"/>
            <a:ext cx="6498205" cy="116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Wide area of observation</a:t>
            </a:r>
          </a:p>
          <a:p>
            <a:pPr algn="l">
              <a:lnSpc>
                <a:spcPts val="3137"/>
              </a:lnSpc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ENAC constraints and weather damages</a:t>
            </a:r>
          </a:p>
          <a:p>
            <a:pPr algn="l">
              <a:lnSpc>
                <a:spcPts val="3137"/>
              </a:lnSpc>
            </a:pPr>
            <a:endParaRPr lang="en-US" sz="2241">
              <a:solidFill>
                <a:srgbClr val="0E0340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4750268" y="6820062"/>
            <a:ext cx="5467567" cy="767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Night operation</a:t>
            </a:r>
          </a:p>
          <a:p>
            <a:pPr algn="l">
              <a:lnSpc>
                <a:spcPts val="3137"/>
              </a:lnSpc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High power consumption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316587" y="4130172"/>
            <a:ext cx="6942379" cy="663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9"/>
              </a:lnSpc>
              <a:spcBef>
                <a:spcPct val="0"/>
              </a:spcBef>
            </a:pPr>
            <a:r>
              <a:rPr lang="en-US" sz="3892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Turbidity sensors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234949" y="8850696"/>
            <a:ext cx="5467567" cy="767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Low power and non-invasive solution</a:t>
            </a:r>
          </a:p>
          <a:p>
            <a:pPr algn="l">
              <a:lnSpc>
                <a:spcPts val="3137"/>
              </a:lnSpc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Only day-time operations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0321944" y="8437729"/>
            <a:ext cx="1874043" cy="263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97"/>
              </a:lnSpc>
            </a:pPr>
            <a:r>
              <a:rPr lang="en-US" sz="1641" i="1">
                <a:solidFill>
                  <a:srgbClr val="0E0340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Infrared camera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5050829" y="5910595"/>
            <a:ext cx="1547816" cy="263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97"/>
              </a:lnSpc>
            </a:pPr>
            <a:r>
              <a:rPr lang="en-US" sz="1641" i="1">
                <a:solidFill>
                  <a:srgbClr val="0E0340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Turbidity sensor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0865122" y="3994228"/>
            <a:ext cx="1874043" cy="263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97"/>
              </a:lnSpc>
            </a:pPr>
            <a:r>
              <a:rPr lang="en-US" sz="1641" i="1">
                <a:solidFill>
                  <a:srgbClr val="0E0340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Autonomous drone</a:t>
            </a:r>
          </a:p>
        </p:txBody>
      </p:sp>
      <p:grpSp>
        <p:nvGrpSpPr>
          <p:cNvPr id="67" name="Group 67"/>
          <p:cNvGrpSpPr/>
          <p:nvPr/>
        </p:nvGrpSpPr>
        <p:grpSpPr>
          <a:xfrm>
            <a:off x="3699375" y="9402636"/>
            <a:ext cx="406325" cy="145473"/>
            <a:chOff x="0" y="0"/>
            <a:chExt cx="234061" cy="83777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34061" cy="83777"/>
            </a:xfrm>
            <a:custGeom>
              <a:avLst/>
              <a:gdLst/>
              <a:ahLst/>
              <a:cxnLst/>
              <a:rect l="l" t="t" r="r" b="b"/>
              <a:pathLst>
                <a:path w="234061" h="83777">
                  <a:moveTo>
                    <a:pt x="234061" y="41888"/>
                  </a:moveTo>
                  <a:lnTo>
                    <a:pt x="234061" y="41888"/>
                  </a:lnTo>
                  <a:cubicBezTo>
                    <a:pt x="234061" y="65023"/>
                    <a:pt x="215307" y="83777"/>
                    <a:pt x="192173" y="83777"/>
                  </a:cubicBezTo>
                  <a:lnTo>
                    <a:pt x="41888" y="83777"/>
                  </a:lnTo>
                  <a:cubicBezTo>
                    <a:pt x="18754" y="83777"/>
                    <a:pt x="0" y="65023"/>
                    <a:pt x="0" y="41888"/>
                  </a:cubicBezTo>
                  <a:lnTo>
                    <a:pt x="0" y="41888"/>
                  </a:lnTo>
                  <a:cubicBezTo>
                    <a:pt x="0" y="18754"/>
                    <a:pt x="18754" y="0"/>
                    <a:pt x="41888" y="0"/>
                  </a:cubicBezTo>
                  <a:lnTo>
                    <a:pt x="192173" y="0"/>
                  </a:lnTo>
                  <a:cubicBezTo>
                    <a:pt x="203282" y="0"/>
                    <a:pt x="213937" y="4413"/>
                    <a:pt x="221792" y="12269"/>
                  </a:cubicBezTo>
                  <a:cubicBezTo>
                    <a:pt x="229648" y="20124"/>
                    <a:pt x="234061" y="30779"/>
                    <a:pt x="234061" y="41888"/>
                  </a:cubicBezTo>
                  <a:close/>
                </a:path>
              </a:pathLst>
            </a:custGeom>
            <a:solidFill>
              <a:srgbClr val="B64C6A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38100"/>
              <a:ext cx="234061" cy="121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60290" y="1273150"/>
            <a:ext cx="524888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Basic Fit</a:t>
            </a:r>
          </a:p>
        </p:txBody>
      </p:sp>
      <p:sp>
        <p:nvSpPr>
          <p:cNvPr id="3" name="Freeform 3"/>
          <p:cNvSpPr/>
          <p:nvPr/>
        </p:nvSpPr>
        <p:spPr>
          <a:xfrm>
            <a:off x="-6094" y="18874"/>
            <a:ext cx="18288000" cy="1576719"/>
          </a:xfrm>
          <a:custGeom>
            <a:avLst/>
            <a:gdLst/>
            <a:ahLst/>
            <a:cxnLst/>
            <a:rect l="l" t="t" r="r" b="b"/>
            <a:pathLst>
              <a:path w="18288000" h="1576719">
                <a:moveTo>
                  <a:pt x="0" y="0"/>
                </a:moveTo>
                <a:lnTo>
                  <a:pt x="18288000" y="0"/>
                </a:lnTo>
                <a:lnTo>
                  <a:pt x="18288000" y="1576719"/>
                </a:lnTo>
                <a:lnTo>
                  <a:pt x="0" y="1576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58818" b="-513949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3571571" y="2501317"/>
            <a:ext cx="6498090" cy="649809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310462"/>
                  </a:lnTo>
                  <a:lnTo>
                    <a:pt x="657569" y="812800"/>
                  </a:lnTo>
                  <a:lnTo>
                    <a:pt x="155231" y="812800"/>
                  </a:lnTo>
                  <a:lnTo>
                    <a:pt x="0" y="310462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4"/>
              <a:stretch>
                <a:fillRect b="-33333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899738" y="1787962"/>
            <a:ext cx="3810954" cy="1050282"/>
            <a:chOff x="0" y="0"/>
            <a:chExt cx="921288" cy="25390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21288" cy="253903"/>
            </a:xfrm>
            <a:custGeom>
              <a:avLst/>
              <a:gdLst/>
              <a:ahLst/>
              <a:cxnLst/>
              <a:rect l="l" t="t" r="r" b="b"/>
              <a:pathLst>
                <a:path w="921288" h="253903">
                  <a:moveTo>
                    <a:pt x="126951" y="0"/>
                  </a:moveTo>
                  <a:lnTo>
                    <a:pt x="794336" y="0"/>
                  </a:lnTo>
                  <a:cubicBezTo>
                    <a:pt x="828006" y="0"/>
                    <a:pt x="860296" y="13375"/>
                    <a:pt x="884104" y="37183"/>
                  </a:cubicBezTo>
                  <a:cubicBezTo>
                    <a:pt x="907912" y="60991"/>
                    <a:pt x="921288" y="93282"/>
                    <a:pt x="921288" y="126951"/>
                  </a:cubicBezTo>
                  <a:lnTo>
                    <a:pt x="921288" y="126951"/>
                  </a:lnTo>
                  <a:cubicBezTo>
                    <a:pt x="921288" y="160621"/>
                    <a:pt x="907912" y="192912"/>
                    <a:pt x="884104" y="216720"/>
                  </a:cubicBezTo>
                  <a:cubicBezTo>
                    <a:pt x="860296" y="240528"/>
                    <a:pt x="828006" y="253903"/>
                    <a:pt x="794336" y="253903"/>
                  </a:cubicBezTo>
                  <a:lnTo>
                    <a:pt x="126951" y="253903"/>
                  </a:lnTo>
                  <a:cubicBezTo>
                    <a:pt x="93282" y="253903"/>
                    <a:pt x="60991" y="240528"/>
                    <a:pt x="37183" y="216720"/>
                  </a:cubicBezTo>
                  <a:cubicBezTo>
                    <a:pt x="13375" y="192912"/>
                    <a:pt x="0" y="160621"/>
                    <a:pt x="0" y="126951"/>
                  </a:cubicBezTo>
                  <a:lnTo>
                    <a:pt x="0" y="126951"/>
                  </a:lnTo>
                  <a:cubicBezTo>
                    <a:pt x="0" y="93282"/>
                    <a:pt x="13375" y="60991"/>
                    <a:pt x="37183" y="37183"/>
                  </a:cubicBezTo>
                  <a:cubicBezTo>
                    <a:pt x="60991" y="13375"/>
                    <a:pt x="93282" y="0"/>
                    <a:pt x="126951" y="0"/>
                  </a:cubicBezTo>
                  <a:close/>
                </a:path>
              </a:pathLst>
            </a:custGeom>
            <a:solidFill>
              <a:srgbClr val="2D1F3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921288" cy="263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473583" y="1913387"/>
            <a:ext cx="2694067" cy="751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2"/>
              </a:lnSpc>
              <a:spcBef>
                <a:spcPct val="0"/>
              </a:spcBef>
            </a:pPr>
            <a:r>
              <a:rPr lang="en-US" sz="2144" b="1">
                <a:solidFill>
                  <a:srgbClr val="F5F0ED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RGB IMAGING SYSTEM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556463" y="8721690"/>
            <a:ext cx="3810954" cy="1050282"/>
            <a:chOff x="0" y="0"/>
            <a:chExt cx="921288" cy="2539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21288" cy="253903"/>
            </a:xfrm>
            <a:custGeom>
              <a:avLst/>
              <a:gdLst/>
              <a:ahLst/>
              <a:cxnLst/>
              <a:rect l="l" t="t" r="r" b="b"/>
              <a:pathLst>
                <a:path w="921288" h="253903">
                  <a:moveTo>
                    <a:pt x="126951" y="0"/>
                  </a:moveTo>
                  <a:lnTo>
                    <a:pt x="794336" y="0"/>
                  </a:lnTo>
                  <a:cubicBezTo>
                    <a:pt x="828006" y="0"/>
                    <a:pt x="860296" y="13375"/>
                    <a:pt x="884104" y="37183"/>
                  </a:cubicBezTo>
                  <a:cubicBezTo>
                    <a:pt x="907912" y="60991"/>
                    <a:pt x="921288" y="93282"/>
                    <a:pt x="921288" y="126951"/>
                  </a:cubicBezTo>
                  <a:lnTo>
                    <a:pt x="921288" y="126951"/>
                  </a:lnTo>
                  <a:cubicBezTo>
                    <a:pt x="921288" y="160621"/>
                    <a:pt x="907912" y="192912"/>
                    <a:pt x="884104" y="216720"/>
                  </a:cubicBezTo>
                  <a:cubicBezTo>
                    <a:pt x="860296" y="240528"/>
                    <a:pt x="828006" y="253903"/>
                    <a:pt x="794336" y="253903"/>
                  </a:cubicBezTo>
                  <a:lnTo>
                    <a:pt x="126951" y="253903"/>
                  </a:lnTo>
                  <a:cubicBezTo>
                    <a:pt x="93282" y="253903"/>
                    <a:pt x="60991" y="240528"/>
                    <a:pt x="37183" y="216720"/>
                  </a:cubicBezTo>
                  <a:cubicBezTo>
                    <a:pt x="13375" y="192912"/>
                    <a:pt x="0" y="160621"/>
                    <a:pt x="0" y="126951"/>
                  </a:cubicBezTo>
                  <a:lnTo>
                    <a:pt x="0" y="126951"/>
                  </a:lnTo>
                  <a:cubicBezTo>
                    <a:pt x="0" y="93282"/>
                    <a:pt x="13375" y="60991"/>
                    <a:pt x="37183" y="37183"/>
                  </a:cubicBezTo>
                  <a:cubicBezTo>
                    <a:pt x="60991" y="13375"/>
                    <a:pt x="93282" y="0"/>
                    <a:pt x="126951" y="0"/>
                  </a:cubicBezTo>
                  <a:close/>
                </a:path>
              </a:pathLst>
            </a:custGeom>
            <a:solidFill>
              <a:srgbClr val="2D1F3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921288" cy="263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849964" y="9036781"/>
            <a:ext cx="3223952" cy="37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2"/>
              </a:lnSpc>
              <a:spcBef>
                <a:spcPct val="0"/>
              </a:spcBef>
            </a:pPr>
            <a:r>
              <a:rPr lang="en-US" sz="2144" b="1">
                <a:solidFill>
                  <a:srgbClr val="F5F0ED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INFORMATION SYSTEM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345319" y="4322529"/>
            <a:ext cx="3810954" cy="1050282"/>
            <a:chOff x="0" y="0"/>
            <a:chExt cx="921288" cy="25390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21288" cy="253903"/>
            </a:xfrm>
            <a:custGeom>
              <a:avLst/>
              <a:gdLst/>
              <a:ahLst/>
              <a:cxnLst/>
              <a:rect l="l" t="t" r="r" b="b"/>
              <a:pathLst>
                <a:path w="921288" h="253903">
                  <a:moveTo>
                    <a:pt x="126951" y="0"/>
                  </a:moveTo>
                  <a:lnTo>
                    <a:pt x="794336" y="0"/>
                  </a:lnTo>
                  <a:cubicBezTo>
                    <a:pt x="828006" y="0"/>
                    <a:pt x="860296" y="13375"/>
                    <a:pt x="884104" y="37183"/>
                  </a:cubicBezTo>
                  <a:cubicBezTo>
                    <a:pt x="907912" y="60991"/>
                    <a:pt x="921288" y="93282"/>
                    <a:pt x="921288" y="126951"/>
                  </a:cubicBezTo>
                  <a:lnTo>
                    <a:pt x="921288" y="126951"/>
                  </a:lnTo>
                  <a:cubicBezTo>
                    <a:pt x="921288" y="160621"/>
                    <a:pt x="907912" y="192912"/>
                    <a:pt x="884104" y="216720"/>
                  </a:cubicBezTo>
                  <a:cubicBezTo>
                    <a:pt x="860296" y="240528"/>
                    <a:pt x="828006" y="253903"/>
                    <a:pt x="794336" y="253903"/>
                  </a:cubicBezTo>
                  <a:lnTo>
                    <a:pt x="126951" y="253903"/>
                  </a:lnTo>
                  <a:cubicBezTo>
                    <a:pt x="93282" y="253903"/>
                    <a:pt x="60991" y="240528"/>
                    <a:pt x="37183" y="216720"/>
                  </a:cubicBezTo>
                  <a:cubicBezTo>
                    <a:pt x="13375" y="192912"/>
                    <a:pt x="0" y="160621"/>
                    <a:pt x="0" y="126951"/>
                  </a:cubicBezTo>
                  <a:lnTo>
                    <a:pt x="0" y="126951"/>
                  </a:lnTo>
                  <a:cubicBezTo>
                    <a:pt x="0" y="93282"/>
                    <a:pt x="13375" y="60991"/>
                    <a:pt x="37183" y="37183"/>
                  </a:cubicBezTo>
                  <a:cubicBezTo>
                    <a:pt x="60991" y="13375"/>
                    <a:pt x="93282" y="0"/>
                    <a:pt x="126951" y="0"/>
                  </a:cubicBezTo>
                  <a:close/>
                </a:path>
              </a:pathLst>
            </a:custGeom>
            <a:solidFill>
              <a:srgbClr val="2D1F3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921288" cy="263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38820" y="4447954"/>
            <a:ext cx="3223952" cy="751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2"/>
              </a:lnSpc>
              <a:spcBef>
                <a:spcPct val="0"/>
              </a:spcBef>
            </a:pPr>
            <a:r>
              <a:rPr lang="en-US" sz="2144" b="1">
                <a:solidFill>
                  <a:srgbClr val="F5F0ED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POWER GENERATION SYSTEM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386211" y="4322529"/>
            <a:ext cx="3810954" cy="1050282"/>
            <a:chOff x="0" y="0"/>
            <a:chExt cx="921288" cy="25390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21288" cy="253903"/>
            </a:xfrm>
            <a:custGeom>
              <a:avLst/>
              <a:gdLst/>
              <a:ahLst/>
              <a:cxnLst/>
              <a:rect l="l" t="t" r="r" b="b"/>
              <a:pathLst>
                <a:path w="921288" h="253903">
                  <a:moveTo>
                    <a:pt x="126951" y="0"/>
                  </a:moveTo>
                  <a:lnTo>
                    <a:pt x="794336" y="0"/>
                  </a:lnTo>
                  <a:cubicBezTo>
                    <a:pt x="828006" y="0"/>
                    <a:pt x="860296" y="13375"/>
                    <a:pt x="884104" y="37183"/>
                  </a:cubicBezTo>
                  <a:cubicBezTo>
                    <a:pt x="907912" y="60991"/>
                    <a:pt x="921288" y="93282"/>
                    <a:pt x="921288" y="126951"/>
                  </a:cubicBezTo>
                  <a:lnTo>
                    <a:pt x="921288" y="126951"/>
                  </a:lnTo>
                  <a:cubicBezTo>
                    <a:pt x="921288" y="160621"/>
                    <a:pt x="907912" y="192912"/>
                    <a:pt x="884104" y="216720"/>
                  </a:cubicBezTo>
                  <a:cubicBezTo>
                    <a:pt x="860296" y="240528"/>
                    <a:pt x="828006" y="253903"/>
                    <a:pt x="794336" y="253903"/>
                  </a:cubicBezTo>
                  <a:lnTo>
                    <a:pt x="126951" y="253903"/>
                  </a:lnTo>
                  <a:cubicBezTo>
                    <a:pt x="93282" y="253903"/>
                    <a:pt x="60991" y="240528"/>
                    <a:pt x="37183" y="216720"/>
                  </a:cubicBezTo>
                  <a:cubicBezTo>
                    <a:pt x="13375" y="192912"/>
                    <a:pt x="0" y="160621"/>
                    <a:pt x="0" y="126951"/>
                  </a:cubicBezTo>
                  <a:lnTo>
                    <a:pt x="0" y="126951"/>
                  </a:lnTo>
                  <a:cubicBezTo>
                    <a:pt x="0" y="93282"/>
                    <a:pt x="13375" y="60991"/>
                    <a:pt x="37183" y="37183"/>
                  </a:cubicBezTo>
                  <a:cubicBezTo>
                    <a:pt x="60991" y="13375"/>
                    <a:pt x="93282" y="0"/>
                    <a:pt x="126951" y="0"/>
                  </a:cubicBezTo>
                  <a:close/>
                </a:path>
              </a:pathLst>
            </a:custGeom>
            <a:solidFill>
              <a:srgbClr val="2D1F3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921288" cy="263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679712" y="4447954"/>
            <a:ext cx="3223952" cy="751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2"/>
              </a:lnSpc>
              <a:spcBef>
                <a:spcPct val="0"/>
              </a:spcBef>
            </a:pPr>
            <a:r>
              <a:rPr lang="en-US" sz="2144" b="1">
                <a:solidFill>
                  <a:srgbClr val="F5F0ED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ENERGY MANAGEMENT SYSTEM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8300345" y="8721690"/>
            <a:ext cx="3810954" cy="1050282"/>
            <a:chOff x="0" y="0"/>
            <a:chExt cx="921288" cy="25390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21288" cy="253903"/>
            </a:xfrm>
            <a:custGeom>
              <a:avLst/>
              <a:gdLst/>
              <a:ahLst/>
              <a:cxnLst/>
              <a:rect l="l" t="t" r="r" b="b"/>
              <a:pathLst>
                <a:path w="921288" h="253903">
                  <a:moveTo>
                    <a:pt x="126951" y="0"/>
                  </a:moveTo>
                  <a:lnTo>
                    <a:pt x="794336" y="0"/>
                  </a:lnTo>
                  <a:cubicBezTo>
                    <a:pt x="828006" y="0"/>
                    <a:pt x="860296" y="13375"/>
                    <a:pt x="884104" y="37183"/>
                  </a:cubicBezTo>
                  <a:cubicBezTo>
                    <a:pt x="907912" y="60991"/>
                    <a:pt x="921288" y="93282"/>
                    <a:pt x="921288" y="126951"/>
                  </a:cubicBezTo>
                  <a:lnTo>
                    <a:pt x="921288" y="126951"/>
                  </a:lnTo>
                  <a:cubicBezTo>
                    <a:pt x="921288" y="160621"/>
                    <a:pt x="907912" y="192912"/>
                    <a:pt x="884104" y="216720"/>
                  </a:cubicBezTo>
                  <a:cubicBezTo>
                    <a:pt x="860296" y="240528"/>
                    <a:pt x="828006" y="253903"/>
                    <a:pt x="794336" y="253903"/>
                  </a:cubicBezTo>
                  <a:lnTo>
                    <a:pt x="126951" y="253903"/>
                  </a:lnTo>
                  <a:cubicBezTo>
                    <a:pt x="93282" y="253903"/>
                    <a:pt x="60991" y="240528"/>
                    <a:pt x="37183" y="216720"/>
                  </a:cubicBezTo>
                  <a:cubicBezTo>
                    <a:pt x="13375" y="192912"/>
                    <a:pt x="0" y="160621"/>
                    <a:pt x="0" y="126951"/>
                  </a:cubicBezTo>
                  <a:lnTo>
                    <a:pt x="0" y="126951"/>
                  </a:lnTo>
                  <a:cubicBezTo>
                    <a:pt x="0" y="93282"/>
                    <a:pt x="13375" y="60991"/>
                    <a:pt x="37183" y="37183"/>
                  </a:cubicBezTo>
                  <a:cubicBezTo>
                    <a:pt x="60991" y="13375"/>
                    <a:pt x="93282" y="0"/>
                    <a:pt x="126951" y="0"/>
                  </a:cubicBezTo>
                  <a:close/>
                </a:path>
              </a:pathLst>
            </a:custGeom>
            <a:solidFill>
              <a:srgbClr val="2D1F3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921288" cy="263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593846" y="9036781"/>
            <a:ext cx="3223952" cy="37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2"/>
              </a:lnSpc>
              <a:spcBef>
                <a:spcPct val="0"/>
              </a:spcBef>
            </a:pPr>
            <a:r>
              <a:rPr lang="en-US" sz="2144" b="1">
                <a:solidFill>
                  <a:srgbClr val="F5F0ED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MECHANICAL SYSTEM</a:t>
            </a:r>
          </a:p>
        </p:txBody>
      </p:sp>
      <p:sp>
        <p:nvSpPr>
          <p:cNvPr id="26" name="Freeform 26"/>
          <p:cNvSpPr/>
          <p:nvPr/>
        </p:nvSpPr>
        <p:spPr>
          <a:xfrm rot="-10800000">
            <a:off x="13261775" y="2227782"/>
            <a:ext cx="791398" cy="6881719"/>
          </a:xfrm>
          <a:custGeom>
            <a:avLst/>
            <a:gdLst/>
            <a:ahLst/>
            <a:cxnLst/>
            <a:rect l="l" t="t" r="r" b="b"/>
            <a:pathLst>
              <a:path w="791398" h="6881719">
                <a:moveTo>
                  <a:pt x="0" y="0"/>
                </a:moveTo>
                <a:lnTo>
                  <a:pt x="791397" y="0"/>
                </a:lnTo>
                <a:lnTo>
                  <a:pt x="791397" y="6881718"/>
                </a:lnTo>
                <a:lnTo>
                  <a:pt x="0" y="6881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7" name="TextBox 27"/>
          <p:cNvSpPr txBox="1"/>
          <p:nvPr/>
        </p:nvSpPr>
        <p:spPr>
          <a:xfrm>
            <a:off x="1028700" y="206986"/>
            <a:ext cx="16218413" cy="1177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 b="1">
                <a:solidFill>
                  <a:srgbClr val="FBFBF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The SENTINEL System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259300" y="9191625"/>
            <a:ext cx="638316" cy="580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23107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10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4119847" y="5143500"/>
            <a:ext cx="3810954" cy="1050282"/>
            <a:chOff x="0" y="0"/>
            <a:chExt cx="5081272" cy="1400376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5081272" cy="1400376"/>
              <a:chOff x="0" y="0"/>
              <a:chExt cx="921288" cy="25390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921288" cy="253903"/>
              </a:xfrm>
              <a:custGeom>
                <a:avLst/>
                <a:gdLst/>
                <a:ahLst/>
                <a:cxnLst/>
                <a:rect l="l" t="t" r="r" b="b"/>
                <a:pathLst>
                  <a:path w="921288" h="253903">
                    <a:moveTo>
                      <a:pt x="126951" y="0"/>
                    </a:moveTo>
                    <a:lnTo>
                      <a:pt x="794336" y="0"/>
                    </a:lnTo>
                    <a:cubicBezTo>
                      <a:pt x="828006" y="0"/>
                      <a:pt x="860296" y="13375"/>
                      <a:pt x="884104" y="37183"/>
                    </a:cubicBezTo>
                    <a:cubicBezTo>
                      <a:pt x="907912" y="60991"/>
                      <a:pt x="921288" y="93282"/>
                      <a:pt x="921288" y="126951"/>
                    </a:cubicBezTo>
                    <a:lnTo>
                      <a:pt x="921288" y="126951"/>
                    </a:lnTo>
                    <a:cubicBezTo>
                      <a:pt x="921288" y="160621"/>
                      <a:pt x="907912" y="192912"/>
                      <a:pt x="884104" y="216720"/>
                    </a:cubicBezTo>
                    <a:cubicBezTo>
                      <a:pt x="860296" y="240528"/>
                      <a:pt x="828006" y="253903"/>
                      <a:pt x="794336" y="253903"/>
                    </a:cubicBezTo>
                    <a:lnTo>
                      <a:pt x="126951" y="253903"/>
                    </a:lnTo>
                    <a:cubicBezTo>
                      <a:pt x="93282" y="253903"/>
                      <a:pt x="60991" y="240528"/>
                      <a:pt x="37183" y="216720"/>
                    </a:cubicBezTo>
                    <a:cubicBezTo>
                      <a:pt x="13375" y="192912"/>
                      <a:pt x="0" y="160621"/>
                      <a:pt x="0" y="126951"/>
                    </a:cubicBezTo>
                    <a:lnTo>
                      <a:pt x="0" y="126951"/>
                    </a:lnTo>
                    <a:cubicBezTo>
                      <a:pt x="0" y="93282"/>
                      <a:pt x="13375" y="60991"/>
                      <a:pt x="37183" y="37183"/>
                    </a:cubicBezTo>
                    <a:cubicBezTo>
                      <a:pt x="60991" y="13375"/>
                      <a:pt x="93282" y="0"/>
                      <a:pt x="126951" y="0"/>
                    </a:cubicBezTo>
                    <a:close/>
                  </a:path>
                </a:pathLst>
              </a:custGeom>
              <a:solidFill>
                <a:srgbClr val="2D1F3D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9525"/>
                <a:ext cx="921288" cy="2634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391334" y="183109"/>
              <a:ext cx="4298603" cy="98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2"/>
                </a:lnSpc>
              </a:pPr>
              <a:r>
                <a:rPr lang="en-US" sz="2144" b="1">
                  <a:solidFill>
                    <a:srgbClr val="F5F0ED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DATA ANALYSIS</a:t>
              </a:r>
            </a:p>
            <a:p>
              <a:pPr algn="ctr">
                <a:lnSpc>
                  <a:spcPts val="3002"/>
                </a:lnSpc>
                <a:spcBef>
                  <a:spcPct val="0"/>
                </a:spcBef>
              </a:pPr>
              <a:r>
                <a:rPr lang="en-US" sz="2144" b="1">
                  <a:solidFill>
                    <a:srgbClr val="F5F0ED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PIPELINE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6960673" y="1895343"/>
            <a:ext cx="12563870" cy="8773184"/>
            <a:chOff x="0" y="0"/>
            <a:chExt cx="660400" cy="4611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461149"/>
            </a:xfrm>
            <a:custGeom>
              <a:avLst/>
              <a:gdLst/>
              <a:ahLst/>
              <a:cxnLst/>
              <a:rect l="l" t="t" r="r" b="b"/>
              <a:pathLst>
                <a:path w="660400" h="461149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0691"/>
                  </a:cubicBezTo>
                  <a:lnTo>
                    <a:pt x="660400" y="461149"/>
                  </a:lnTo>
                  <a:lnTo>
                    <a:pt x="0" y="461149"/>
                  </a:lnTo>
                  <a:lnTo>
                    <a:pt x="0" y="320795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66675" cap="sq">
              <a:solidFill>
                <a:srgbClr val="BEC8DA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88900"/>
              <a:ext cx="660400" cy="3722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660290" y="1273150"/>
            <a:ext cx="524888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Basic Fit</a:t>
            </a:r>
          </a:p>
        </p:txBody>
      </p:sp>
      <p:sp>
        <p:nvSpPr>
          <p:cNvPr id="6" name="Freeform 6"/>
          <p:cNvSpPr/>
          <p:nvPr/>
        </p:nvSpPr>
        <p:spPr>
          <a:xfrm>
            <a:off x="-6094" y="18874"/>
            <a:ext cx="18288000" cy="1576719"/>
          </a:xfrm>
          <a:custGeom>
            <a:avLst/>
            <a:gdLst/>
            <a:ahLst/>
            <a:cxnLst/>
            <a:rect l="l" t="t" r="r" b="b"/>
            <a:pathLst>
              <a:path w="18288000" h="1576719">
                <a:moveTo>
                  <a:pt x="0" y="0"/>
                </a:moveTo>
                <a:lnTo>
                  <a:pt x="18288000" y="0"/>
                </a:lnTo>
                <a:lnTo>
                  <a:pt x="18288000" y="1576719"/>
                </a:lnTo>
                <a:lnTo>
                  <a:pt x="0" y="1576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58818" b="-513949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9769450" y="2568595"/>
            <a:ext cx="6650962" cy="4988222"/>
          </a:xfrm>
          <a:custGeom>
            <a:avLst/>
            <a:gdLst/>
            <a:ahLst/>
            <a:cxnLst/>
            <a:rect l="l" t="t" r="r" b="b"/>
            <a:pathLst>
              <a:path w="6650962" h="4988222">
                <a:moveTo>
                  <a:pt x="0" y="0"/>
                </a:moveTo>
                <a:lnTo>
                  <a:pt x="6650962" y="0"/>
                </a:lnTo>
                <a:lnTo>
                  <a:pt x="6650962" y="4988221"/>
                </a:lnTo>
                <a:lnTo>
                  <a:pt x="0" y="49882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grpSp>
        <p:nvGrpSpPr>
          <p:cNvPr id="8" name="Group 8"/>
          <p:cNvGrpSpPr/>
          <p:nvPr/>
        </p:nvGrpSpPr>
        <p:grpSpPr>
          <a:xfrm>
            <a:off x="1908805" y="2010675"/>
            <a:ext cx="8281926" cy="1601881"/>
            <a:chOff x="0" y="0"/>
            <a:chExt cx="11042569" cy="2135841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591883" cy="1591883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A015C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333552" y="404642"/>
              <a:ext cx="1023004" cy="782598"/>
            </a:xfrm>
            <a:custGeom>
              <a:avLst/>
              <a:gdLst/>
              <a:ahLst/>
              <a:cxnLst/>
              <a:rect l="l" t="t" r="r" b="b"/>
              <a:pathLst>
                <a:path w="1023004" h="782598">
                  <a:moveTo>
                    <a:pt x="0" y="0"/>
                  </a:moveTo>
                  <a:lnTo>
                    <a:pt x="1023004" y="0"/>
                  </a:lnTo>
                  <a:lnTo>
                    <a:pt x="1023004" y="782599"/>
                  </a:lnTo>
                  <a:lnTo>
                    <a:pt x="0" y="782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82179" y="1122859"/>
              <a:ext cx="8664273" cy="10129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83855" lvl="1" indent="-241927" algn="l">
                <a:lnSpc>
                  <a:spcPts val="3137"/>
                </a:lnSpc>
                <a:buFont typeface="Arial"/>
                <a:buChar char="•"/>
              </a:pPr>
              <a:r>
                <a:rPr lang="en-US" sz="2241">
                  <a:solidFill>
                    <a:srgbClr val="0E03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15 minutes interval</a:t>
              </a:r>
            </a:p>
            <a:p>
              <a:pPr marL="483855" lvl="1" indent="-241927" algn="l">
                <a:lnSpc>
                  <a:spcPts val="3137"/>
                </a:lnSpc>
                <a:buFont typeface="Arial"/>
                <a:buChar char="•"/>
              </a:pPr>
              <a:r>
                <a:rPr lang="en-US" sz="2241">
                  <a:solidFill>
                    <a:srgbClr val="0E03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Changes in water wurbidity evaluation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86063" y="311686"/>
              <a:ext cx="9256505" cy="858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49"/>
                </a:lnSpc>
                <a:spcBef>
                  <a:spcPct val="0"/>
                </a:spcBef>
              </a:pPr>
              <a:r>
                <a:rPr lang="en-US" sz="3892" b="1">
                  <a:solidFill>
                    <a:srgbClr val="000000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Fast acquisition interval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664969" y="3830461"/>
            <a:ext cx="8246165" cy="1999059"/>
            <a:chOff x="0" y="0"/>
            <a:chExt cx="10994886" cy="2665412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591883" cy="1591883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F0147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262579" y="280750"/>
              <a:ext cx="1078936" cy="1030384"/>
            </a:xfrm>
            <a:custGeom>
              <a:avLst/>
              <a:gdLst/>
              <a:ahLst/>
              <a:cxnLst/>
              <a:rect l="l" t="t" r="r" b="b"/>
              <a:pathLst>
                <a:path w="1078936" h="1030384">
                  <a:moveTo>
                    <a:pt x="0" y="0"/>
                  </a:moveTo>
                  <a:lnTo>
                    <a:pt x="1078936" y="0"/>
                  </a:lnTo>
                  <a:lnTo>
                    <a:pt x="1078936" y="1030384"/>
                  </a:lnTo>
                  <a:lnTo>
                    <a:pt x="0" y="1030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38381" y="328442"/>
              <a:ext cx="9256505" cy="858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49"/>
                </a:lnSpc>
                <a:spcBef>
                  <a:spcPct val="0"/>
                </a:spcBef>
              </a:pPr>
              <a:r>
                <a:rPr lang="en-US" sz="3892" b="1">
                  <a:solidFill>
                    <a:srgbClr val="000000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High resolution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55794" y="1139616"/>
              <a:ext cx="7290089" cy="15257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83855" lvl="1" indent="-241927" algn="l">
                <a:lnSpc>
                  <a:spcPts val="3137"/>
                </a:lnSpc>
                <a:buFont typeface="Arial"/>
                <a:buChar char="•"/>
              </a:pPr>
              <a:r>
                <a:rPr lang="en-US" sz="2241">
                  <a:solidFill>
                    <a:srgbClr val="0E03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On ground resolution of 7.7 mm/px</a:t>
              </a:r>
            </a:p>
            <a:p>
              <a:pPr marL="483855" lvl="1" indent="-241927" algn="l">
                <a:lnSpc>
                  <a:spcPts val="3137"/>
                </a:lnSpc>
                <a:buFont typeface="Arial"/>
                <a:buChar char="•"/>
              </a:pPr>
              <a:r>
                <a:rPr lang="en-US" sz="2241">
                  <a:solidFill>
                    <a:srgbClr val="0E03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Small water stream identification</a:t>
              </a:r>
            </a:p>
            <a:p>
              <a:pPr marL="483855" lvl="1" indent="-241927" algn="l">
                <a:lnSpc>
                  <a:spcPts val="3137"/>
                </a:lnSpc>
                <a:buFont typeface="Arial"/>
                <a:buChar char="•"/>
              </a:pPr>
              <a:r>
                <a:rPr lang="en-US" sz="2241">
                  <a:solidFill>
                    <a:srgbClr val="0E03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Watery multiple pixels clusters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206986"/>
            <a:ext cx="16218413" cy="1177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 b="1">
                <a:solidFill>
                  <a:srgbClr val="FBFBF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RGB Imaging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514447" y="9191625"/>
            <a:ext cx="383170" cy="580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23107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11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3071652" y="6048595"/>
            <a:ext cx="8253850" cy="1582039"/>
            <a:chOff x="0" y="0"/>
            <a:chExt cx="11005133" cy="2109385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1591883" cy="1591883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62C41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8" name="Freeform 28"/>
            <p:cNvSpPr/>
            <p:nvPr/>
          </p:nvSpPr>
          <p:spPr>
            <a:xfrm>
              <a:off x="235993" y="404642"/>
              <a:ext cx="1119898" cy="800727"/>
            </a:xfrm>
            <a:custGeom>
              <a:avLst/>
              <a:gdLst/>
              <a:ahLst/>
              <a:cxnLst/>
              <a:rect l="l" t="t" r="r" b="b"/>
              <a:pathLst>
                <a:path w="1119898" h="800727">
                  <a:moveTo>
                    <a:pt x="0" y="0"/>
                  </a:moveTo>
                  <a:lnTo>
                    <a:pt x="1119898" y="0"/>
                  </a:lnTo>
                  <a:lnTo>
                    <a:pt x="1119898" y="800727"/>
                  </a:lnTo>
                  <a:lnTo>
                    <a:pt x="0" y="800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48628" y="328442"/>
              <a:ext cx="9256505" cy="858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49"/>
                </a:lnSpc>
                <a:spcBef>
                  <a:spcPct val="0"/>
                </a:spcBef>
              </a:pPr>
              <a:r>
                <a:rPr lang="en-US" sz="3892" b="1">
                  <a:solidFill>
                    <a:srgbClr val="000000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Wide FOV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90597" y="1101612"/>
              <a:ext cx="7290089" cy="10077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83855" lvl="1" indent="-241927" algn="l">
                <a:lnSpc>
                  <a:spcPts val="3137"/>
                </a:lnSpc>
                <a:buFont typeface="Arial"/>
                <a:buChar char="•"/>
              </a:pPr>
              <a:r>
                <a:rPr lang="en-US" sz="2241">
                  <a:solidFill>
                    <a:srgbClr val="0E03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Full river observation - 16 m</a:t>
              </a:r>
            </a:p>
            <a:p>
              <a:pPr marL="483855" lvl="1" indent="-241927" algn="l">
                <a:lnSpc>
                  <a:spcPts val="3137"/>
                </a:lnSpc>
                <a:buFont typeface="Arial"/>
                <a:buChar char="•"/>
              </a:pPr>
              <a:r>
                <a:rPr lang="en-US" sz="2241">
                  <a:solidFill>
                    <a:srgbClr val="0E03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220° horizontal FOV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769450" y="7537766"/>
            <a:ext cx="5758676" cy="263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97"/>
              </a:lnSpc>
            </a:pPr>
            <a:r>
              <a:rPr lang="en-US" sz="1641" i="1">
                <a:solidFill>
                  <a:srgbClr val="0E0340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Optical monitoring system facing the rivrbed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-1678136" y="8037895"/>
            <a:ext cx="16860033" cy="1718952"/>
            <a:chOff x="0" y="0"/>
            <a:chExt cx="10911955" cy="11125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911956" cy="1113790"/>
            </a:xfrm>
            <a:custGeom>
              <a:avLst/>
              <a:gdLst/>
              <a:ahLst/>
              <a:cxnLst/>
              <a:rect l="l" t="t" r="r" b="b"/>
              <a:pathLst>
                <a:path w="10911956" h="1113790">
                  <a:moveTo>
                    <a:pt x="10359506" y="0"/>
                  </a:moveTo>
                  <a:lnTo>
                    <a:pt x="553720" y="0"/>
                  </a:lnTo>
                  <a:cubicBezTo>
                    <a:pt x="247650" y="0"/>
                    <a:pt x="0" y="247650"/>
                    <a:pt x="0" y="553720"/>
                  </a:cubicBezTo>
                  <a:cubicBezTo>
                    <a:pt x="0" y="859790"/>
                    <a:pt x="247650" y="1107440"/>
                    <a:pt x="553720" y="1107440"/>
                  </a:cubicBezTo>
                  <a:lnTo>
                    <a:pt x="10359506" y="1113790"/>
                  </a:lnTo>
                  <a:lnTo>
                    <a:pt x="10911956" y="558800"/>
                  </a:lnTo>
                  <a:lnTo>
                    <a:pt x="10359506" y="0"/>
                  </a:lnTo>
                  <a:close/>
                </a:path>
              </a:pathLst>
            </a:custGeom>
            <a:solidFill>
              <a:srgbClr val="B64C6A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4826003" y="8487218"/>
            <a:ext cx="9242612" cy="86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4"/>
              </a:lnSpc>
            </a:pPr>
            <a:r>
              <a:rPr lang="en-US" sz="2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</a:t>
            </a:r>
            <a:r>
              <a:rPr lang="en-US" sz="248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optical monitoring systems</a:t>
            </a:r>
            <a:r>
              <a:rPr lang="en-US" sz="2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grants </a:t>
            </a:r>
            <a:r>
              <a:rPr lang="en-US" sz="248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sufficient frequency</a:t>
            </a:r>
            <a:r>
              <a:rPr lang="en-US" sz="2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of </a:t>
            </a:r>
            <a:r>
              <a:rPr lang="en-US" sz="248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acquisition</a:t>
            </a:r>
            <a:r>
              <a:rPr lang="en-US" sz="2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</a:t>
            </a:r>
            <a:r>
              <a:rPr lang="en-US" sz="248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resolution </a:t>
            </a:r>
            <a:r>
              <a:rPr lang="en-US" sz="2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and </a:t>
            </a:r>
            <a:r>
              <a:rPr lang="en-US" sz="248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field of view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753747" y="8474875"/>
            <a:ext cx="2072256" cy="422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4"/>
              </a:lnSpc>
            </a:pPr>
            <a:r>
              <a:rPr lang="en-US" sz="2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Key takeaway: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60290" y="1273150"/>
            <a:ext cx="524888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Basic Fit</a:t>
            </a:r>
          </a:p>
        </p:txBody>
      </p:sp>
      <p:sp>
        <p:nvSpPr>
          <p:cNvPr id="3" name="Freeform 3"/>
          <p:cNvSpPr/>
          <p:nvPr/>
        </p:nvSpPr>
        <p:spPr>
          <a:xfrm>
            <a:off x="-6094" y="18874"/>
            <a:ext cx="18288000" cy="1576719"/>
          </a:xfrm>
          <a:custGeom>
            <a:avLst/>
            <a:gdLst/>
            <a:ahLst/>
            <a:cxnLst/>
            <a:rect l="l" t="t" r="r" b="b"/>
            <a:pathLst>
              <a:path w="18288000" h="1576719">
                <a:moveTo>
                  <a:pt x="0" y="0"/>
                </a:moveTo>
                <a:lnTo>
                  <a:pt x="18288000" y="0"/>
                </a:lnTo>
                <a:lnTo>
                  <a:pt x="18288000" y="1576719"/>
                </a:lnTo>
                <a:lnTo>
                  <a:pt x="0" y="1576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58818" b="-513949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805852" y="2365427"/>
            <a:ext cx="3092074" cy="818593"/>
            <a:chOff x="0" y="-9100"/>
            <a:chExt cx="747500" cy="1978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7500" cy="188793"/>
            </a:xfrm>
            <a:custGeom>
              <a:avLst/>
              <a:gdLst/>
              <a:ahLst/>
              <a:cxnLst/>
              <a:rect l="l" t="t" r="r" b="b"/>
              <a:pathLst>
                <a:path w="747500" h="188793">
                  <a:moveTo>
                    <a:pt x="90137" y="0"/>
                  </a:moveTo>
                  <a:lnTo>
                    <a:pt x="657364" y="0"/>
                  </a:lnTo>
                  <a:cubicBezTo>
                    <a:pt x="681270" y="0"/>
                    <a:pt x="704196" y="9497"/>
                    <a:pt x="721100" y="26400"/>
                  </a:cubicBezTo>
                  <a:cubicBezTo>
                    <a:pt x="738004" y="43304"/>
                    <a:pt x="747500" y="66231"/>
                    <a:pt x="747500" y="90137"/>
                  </a:cubicBezTo>
                  <a:lnTo>
                    <a:pt x="747500" y="98656"/>
                  </a:lnTo>
                  <a:cubicBezTo>
                    <a:pt x="747500" y="122562"/>
                    <a:pt x="738004" y="145488"/>
                    <a:pt x="721100" y="162392"/>
                  </a:cubicBezTo>
                  <a:cubicBezTo>
                    <a:pt x="704196" y="179296"/>
                    <a:pt x="681270" y="188793"/>
                    <a:pt x="657364" y="188793"/>
                  </a:cubicBezTo>
                  <a:lnTo>
                    <a:pt x="90137" y="188793"/>
                  </a:lnTo>
                  <a:cubicBezTo>
                    <a:pt x="66231" y="188793"/>
                    <a:pt x="43304" y="179296"/>
                    <a:pt x="26400" y="162392"/>
                  </a:cubicBezTo>
                  <a:cubicBezTo>
                    <a:pt x="9497" y="145488"/>
                    <a:pt x="0" y="122562"/>
                    <a:pt x="0" y="98656"/>
                  </a:cubicBezTo>
                  <a:lnTo>
                    <a:pt x="0" y="90137"/>
                  </a:lnTo>
                  <a:cubicBezTo>
                    <a:pt x="0" y="66231"/>
                    <a:pt x="9497" y="43304"/>
                    <a:pt x="26400" y="26400"/>
                  </a:cubicBezTo>
                  <a:cubicBezTo>
                    <a:pt x="43304" y="9497"/>
                    <a:pt x="66231" y="0"/>
                    <a:pt x="90137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100"/>
              <a:ext cx="747500" cy="197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1799" b="1" dirty="0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Solar Radiation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05852" y="3778205"/>
            <a:ext cx="3092074" cy="818593"/>
            <a:chOff x="0" y="-9100"/>
            <a:chExt cx="747500" cy="1978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47500" cy="188793"/>
            </a:xfrm>
            <a:custGeom>
              <a:avLst/>
              <a:gdLst/>
              <a:ahLst/>
              <a:cxnLst/>
              <a:rect l="l" t="t" r="r" b="b"/>
              <a:pathLst>
                <a:path w="747500" h="188793">
                  <a:moveTo>
                    <a:pt x="90137" y="0"/>
                  </a:moveTo>
                  <a:lnTo>
                    <a:pt x="657364" y="0"/>
                  </a:lnTo>
                  <a:cubicBezTo>
                    <a:pt x="681270" y="0"/>
                    <a:pt x="704196" y="9497"/>
                    <a:pt x="721100" y="26400"/>
                  </a:cubicBezTo>
                  <a:cubicBezTo>
                    <a:pt x="738004" y="43304"/>
                    <a:pt x="747500" y="66231"/>
                    <a:pt x="747500" y="90137"/>
                  </a:cubicBezTo>
                  <a:lnTo>
                    <a:pt x="747500" y="98656"/>
                  </a:lnTo>
                  <a:cubicBezTo>
                    <a:pt x="747500" y="122562"/>
                    <a:pt x="738004" y="145488"/>
                    <a:pt x="721100" y="162392"/>
                  </a:cubicBezTo>
                  <a:cubicBezTo>
                    <a:pt x="704196" y="179296"/>
                    <a:pt x="681270" y="188793"/>
                    <a:pt x="657364" y="188793"/>
                  </a:cubicBezTo>
                  <a:lnTo>
                    <a:pt x="90137" y="188793"/>
                  </a:lnTo>
                  <a:cubicBezTo>
                    <a:pt x="66231" y="188793"/>
                    <a:pt x="43304" y="179296"/>
                    <a:pt x="26400" y="162392"/>
                  </a:cubicBezTo>
                  <a:cubicBezTo>
                    <a:pt x="9497" y="145488"/>
                    <a:pt x="0" y="122562"/>
                    <a:pt x="0" y="98656"/>
                  </a:cubicBezTo>
                  <a:lnTo>
                    <a:pt x="0" y="90137"/>
                  </a:lnTo>
                  <a:cubicBezTo>
                    <a:pt x="0" y="66231"/>
                    <a:pt x="9497" y="43304"/>
                    <a:pt x="26400" y="26400"/>
                  </a:cubicBezTo>
                  <a:cubicBezTo>
                    <a:pt x="43304" y="9497"/>
                    <a:pt x="66231" y="0"/>
                    <a:pt x="90137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100"/>
              <a:ext cx="747500" cy="197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1799" b="1" dirty="0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Solar Panel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05852" y="5190983"/>
            <a:ext cx="3092074" cy="818593"/>
            <a:chOff x="0" y="-9100"/>
            <a:chExt cx="747500" cy="19789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47500" cy="188793"/>
            </a:xfrm>
            <a:custGeom>
              <a:avLst/>
              <a:gdLst/>
              <a:ahLst/>
              <a:cxnLst/>
              <a:rect l="l" t="t" r="r" b="b"/>
              <a:pathLst>
                <a:path w="747500" h="188793">
                  <a:moveTo>
                    <a:pt x="90137" y="0"/>
                  </a:moveTo>
                  <a:lnTo>
                    <a:pt x="657364" y="0"/>
                  </a:lnTo>
                  <a:cubicBezTo>
                    <a:pt x="681270" y="0"/>
                    <a:pt x="704196" y="9497"/>
                    <a:pt x="721100" y="26400"/>
                  </a:cubicBezTo>
                  <a:cubicBezTo>
                    <a:pt x="738004" y="43304"/>
                    <a:pt x="747500" y="66231"/>
                    <a:pt x="747500" y="90137"/>
                  </a:cubicBezTo>
                  <a:lnTo>
                    <a:pt x="747500" y="98656"/>
                  </a:lnTo>
                  <a:cubicBezTo>
                    <a:pt x="747500" y="122562"/>
                    <a:pt x="738004" y="145488"/>
                    <a:pt x="721100" y="162392"/>
                  </a:cubicBezTo>
                  <a:cubicBezTo>
                    <a:pt x="704196" y="179296"/>
                    <a:pt x="681270" y="188793"/>
                    <a:pt x="657364" y="188793"/>
                  </a:cubicBezTo>
                  <a:lnTo>
                    <a:pt x="90137" y="188793"/>
                  </a:lnTo>
                  <a:cubicBezTo>
                    <a:pt x="66231" y="188793"/>
                    <a:pt x="43304" y="179296"/>
                    <a:pt x="26400" y="162392"/>
                  </a:cubicBezTo>
                  <a:cubicBezTo>
                    <a:pt x="9497" y="145488"/>
                    <a:pt x="0" y="122562"/>
                    <a:pt x="0" y="98656"/>
                  </a:cubicBezTo>
                  <a:lnTo>
                    <a:pt x="0" y="90137"/>
                  </a:lnTo>
                  <a:cubicBezTo>
                    <a:pt x="0" y="66231"/>
                    <a:pt x="9497" y="43304"/>
                    <a:pt x="26400" y="26400"/>
                  </a:cubicBezTo>
                  <a:cubicBezTo>
                    <a:pt x="43304" y="9497"/>
                    <a:pt x="66231" y="0"/>
                    <a:pt x="90137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100"/>
              <a:ext cx="747500" cy="197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1799" b="1" dirty="0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MPPT Charge Regulator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5852" y="6585602"/>
            <a:ext cx="3092074" cy="836752"/>
            <a:chOff x="0" y="-13490"/>
            <a:chExt cx="747500" cy="20228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47500" cy="188793"/>
            </a:xfrm>
            <a:custGeom>
              <a:avLst/>
              <a:gdLst/>
              <a:ahLst/>
              <a:cxnLst/>
              <a:rect l="l" t="t" r="r" b="b"/>
              <a:pathLst>
                <a:path w="747500" h="188793">
                  <a:moveTo>
                    <a:pt x="90137" y="0"/>
                  </a:moveTo>
                  <a:lnTo>
                    <a:pt x="657364" y="0"/>
                  </a:lnTo>
                  <a:cubicBezTo>
                    <a:pt x="681270" y="0"/>
                    <a:pt x="704196" y="9497"/>
                    <a:pt x="721100" y="26400"/>
                  </a:cubicBezTo>
                  <a:cubicBezTo>
                    <a:pt x="738004" y="43304"/>
                    <a:pt x="747500" y="66231"/>
                    <a:pt x="747500" y="90137"/>
                  </a:cubicBezTo>
                  <a:lnTo>
                    <a:pt x="747500" y="98656"/>
                  </a:lnTo>
                  <a:cubicBezTo>
                    <a:pt x="747500" y="122562"/>
                    <a:pt x="738004" y="145488"/>
                    <a:pt x="721100" y="162392"/>
                  </a:cubicBezTo>
                  <a:cubicBezTo>
                    <a:pt x="704196" y="179296"/>
                    <a:pt x="681270" y="188793"/>
                    <a:pt x="657364" y="188793"/>
                  </a:cubicBezTo>
                  <a:lnTo>
                    <a:pt x="90137" y="188793"/>
                  </a:lnTo>
                  <a:cubicBezTo>
                    <a:pt x="66231" y="188793"/>
                    <a:pt x="43304" y="179296"/>
                    <a:pt x="26400" y="162392"/>
                  </a:cubicBezTo>
                  <a:cubicBezTo>
                    <a:pt x="9497" y="145488"/>
                    <a:pt x="0" y="122562"/>
                    <a:pt x="0" y="98656"/>
                  </a:cubicBezTo>
                  <a:lnTo>
                    <a:pt x="0" y="90137"/>
                  </a:lnTo>
                  <a:cubicBezTo>
                    <a:pt x="0" y="66231"/>
                    <a:pt x="9497" y="43304"/>
                    <a:pt x="26400" y="26400"/>
                  </a:cubicBezTo>
                  <a:cubicBezTo>
                    <a:pt x="43304" y="9497"/>
                    <a:pt x="66231" y="0"/>
                    <a:pt x="90137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3490"/>
              <a:ext cx="747500" cy="202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1799" b="1" dirty="0" err="1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LiFePO</a:t>
              </a:r>
              <a:r>
                <a:rPr lang="en-US" sz="1799" b="1" dirty="0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₄ Battery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240970" y="6585602"/>
            <a:ext cx="3092074" cy="836752"/>
            <a:chOff x="0" y="-13490"/>
            <a:chExt cx="747500" cy="20228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47500" cy="188793"/>
            </a:xfrm>
            <a:custGeom>
              <a:avLst/>
              <a:gdLst/>
              <a:ahLst/>
              <a:cxnLst/>
              <a:rect l="l" t="t" r="r" b="b"/>
              <a:pathLst>
                <a:path w="747500" h="188793">
                  <a:moveTo>
                    <a:pt x="90137" y="0"/>
                  </a:moveTo>
                  <a:lnTo>
                    <a:pt x="657364" y="0"/>
                  </a:lnTo>
                  <a:cubicBezTo>
                    <a:pt x="681270" y="0"/>
                    <a:pt x="704196" y="9497"/>
                    <a:pt x="721100" y="26400"/>
                  </a:cubicBezTo>
                  <a:cubicBezTo>
                    <a:pt x="738004" y="43304"/>
                    <a:pt x="747500" y="66231"/>
                    <a:pt x="747500" y="90137"/>
                  </a:cubicBezTo>
                  <a:lnTo>
                    <a:pt x="747500" y="98656"/>
                  </a:lnTo>
                  <a:cubicBezTo>
                    <a:pt x="747500" y="122562"/>
                    <a:pt x="738004" y="145488"/>
                    <a:pt x="721100" y="162392"/>
                  </a:cubicBezTo>
                  <a:cubicBezTo>
                    <a:pt x="704196" y="179296"/>
                    <a:pt x="681270" y="188793"/>
                    <a:pt x="657364" y="188793"/>
                  </a:cubicBezTo>
                  <a:lnTo>
                    <a:pt x="90137" y="188793"/>
                  </a:lnTo>
                  <a:cubicBezTo>
                    <a:pt x="66231" y="188793"/>
                    <a:pt x="43304" y="179296"/>
                    <a:pt x="26400" y="162392"/>
                  </a:cubicBezTo>
                  <a:cubicBezTo>
                    <a:pt x="9497" y="145488"/>
                    <a:pt x="0" y="122562"/>
                    <a:pt x="0" y="98656"/>
                  </a:cubicBezTo>
                  <a:lnTo>
                    <a:pt x="0" y="90137"/>
                  </a:lnTo>
                  <a:cubicBezTo>
                    <a:pt x="0" y="66231"/>
                    <a:pt x="9497" y="43304"/>
                    <a:pt x="26400" y="26400"/>
                  </a:cubicBezTo>
                  <a:cubicBezTo>
                    <a:pt x="43304" y="9497"/>
                    <a:pt x="66231" y="0"/>
                    <a:pt x="90137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3490"/>
              <a:ext cx="747500" cy="202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1799" b="1" dirty="0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Camera and Electronics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2306170" y="3184020"/>
            <a:ext cx="45719" cy="631828"/>
          </a:xfrm>
          <a:custGeom>
            <a:avLst/>
            <a:gdLst/>
            <a:ahLst/>
            <a:cxnLst/>
            <a:rect l="l" t="t" r="r" b="b"/>
            <a:pathLst>
              <a:path h="315914">
                <a:moveTo>
                  <a:pt x="0" y="0"/>
                </a:moveTo>
                <a:lnTo>
                  <a:pt x="0" y="315914"/>
                </a:lnTo>
              </a:path>
            </a:pathLst>
          </a:cu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20" name="Freeform 20"/>
          <p:cNvSpPr/>
          <p:nvPr/>
        </p:nvSpPr>
        <p:spPr>
          <a:xfrm>
            <a:off x="2306169" y="4621485"/>
            <a:ext cx="45719" cy="607141"/>
          </a:xfrm>
          <a:custGeom>
            <a:avLst/>
            <a:gdLst/>
            <a:ahLst/>
            <a:cxnLst/>
            <a:rect l="l" t="t" r="r" b="b"/>
            <a:pathLst>
              <a:path h="315914">
                <a:moveTo>
                  <a:pt x="0" y="0"/>
                </a:moveTo>
                <a:lnTo>
                  <a:pt x="0" y="315914"/>
                </a:lnTo>
              </a:path>
            </a:pathLst>
          </a:cu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21" name="Freeform 21"/>
          <p:cNvSpPr/>
          <p:nvPr/>
        </p:nvSpPr>
        <p:spPr>
          <a:xfrm>
            <a:off x="2306168" y="5998462"/>
            <a:ext cx="45719" cy="642942"/>
          </a:xfrm>
          <a:custGeom>
            <a:avLst/>
            <a:gdLst/>
            <a:ahLst/>
            <a:cxnLst/>
            <a:rect l="l" t="t" r="r" b="b"/>
            <a:pathLst>
              <a:path h="315914">
                <a:moveTo>
                  <a:pt x="0" y="0"/>
                </a:moveTo>
                <a:lnTo>
                  <a:pt x="0" y="315914"/>
                </a:lnTo>
              </a:path>
            </a:pathLst>
          </a:cu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22" name="Freeform 22"/>
          <p:cNvSpPr/>
          <p:nvPr/>
        </p:nvSpPr>
        <p:spPr>
          <a:xfrm>
            <a:off x="3897926" y="5619101"/>
            <a:ext cx="1889082" cy="1022303"/>
          </a:xfrm>
          <a:custGeom>
            <a:avLst/>
            <a:gdLst/>
            <a:ahLst/>
            <a:cxnLst/>
            <a:rect l="l" t="t" r="r" b="b"/>
            <a:pathLst>
              <a:path w="1889082" h="1022303">
                <a:moveTo>
                  <a:pt x="0" y="0"/>
                </a:moveTo>
                <a:lnTo>
                  <a:pt x="1660482" y="0"/>
                </a:lnTo>
                <a:cubicBezTo>
                  <a:pt x="1786734" y="0"/>
                  <a:pt x="1889082" y="102348"/>
                  <a:pt x="1889082" y="228600"/>
                </a:cubicBezTo>
                <a:lnTo>
                  <a:pt x="1889082" y="1022303"/>
                </a:lnTo>
              </a:path>
            </a:pathLst>
          </a:cu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Box 23"/>
          <p:cNvSpPr txBox="1"/>
          <p:nvPr/>
        </p:nvSpPr>
        <p:spPr>
          <a:xfrm>
            <a:off x="1028700" y="206986"/>
            <a:ext cx="16218413" cy="1177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 b="1">
                <a:solidFill>
                  <a:srgbClr val="FBFBF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Energy Autonomy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421468" y="9191625"/>
            <a:ext cx="476148" cy="580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23107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12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5852" y="7447041"/>
            <a:ext cx="6498205" cy="263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7"/>
              </a:lnSpc>
            </a:pPr>
            <a:r>
              <a:rPr lang="en-US" sz="1641" i="1">
                <a:solidFill>
                  <a:srgbClr val="0E0340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Logical scheme of power distribution across the electrical systems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31100" y="2872625"/>
            <a:ext cx="6498205" cy="116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3855" lvl="1" indent="-241927" algn="l">
              <a:lnSpc>
                <a:spcPts val="3137"/>
              </a:lnSpc>
              <a:buFont typeface="Arial"/>
              <a:buChar char="•"/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6.16 Wh/day estimated power consumption</a:t>
            </a:r>
          </a:p>
          <a:p>
            <a:pPr marL="483855" lvl="1" indent="-241927" algn="l">
              <a:lnSpc>
                <a:spcPts val="3137"/>
              </a:lnSpc>
              <a:buFont typeface="Arial"/>
              <a:buChar char="•"/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20 W external solar panel ( +4 W integrated)</a:t>
            </a:r>
          </a:p>
          <a:p>
            <a:pPr marL="483855" lvl="1" indent="-241927" algn="l">
              <a:lnSpc>
                <a:spcPts val="3137"/>
              </a:lnSpc>
              <a:buFont typeface="Arial"/>
              <a:buChar char="•"/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144 Wh external battery (+92 Wh integrated)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206717" y="2257101"/>
            <a:ext cx="6003191" cy="663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9"/>
              </a:lnSpc>
              <a:spcBef>
                <a:spcPct val="0"/>
              </a:spcBef>
            </a:pPr>
            <a:r>
              <a:rPr lang="en-US" sz="3892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Power demand / solution: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223495" y="2890144"/>
            <a:ext cx="3465068" cy="771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3855" lvl="1" indent="-241927" algn="l">
              <a:lnSpc>
                <a:spcPts val="3137"/>
              </a:lnSpc>
              <a:buFont typeface="Arial"/>
              <a:buChar char="•"/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38 days without power production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029304" y="2257101"/>
            <a:ext cx="4630238" cy="663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9"/>
              </a:lnSpc>
              <a:spcBef>
                <a:spcPct val="0"/>
              </a:spcBef>
            </a:pPr>
            <a:r>
              <a:rPr lang="en-US" sz="3892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Simulated autonomy: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-1678136" y="8037895"/>
            <a:ext cx="16860033" cy="1718952"/>
            <a:chOff x="0" y="0"/>
            <a:chExt cx="10911955" cy="111252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911956" cy="1113790"/>
            </a:xfrm>
            <a:custGeom>
              <a:avLst/>
              <a:gdLst/>
              <a:ahLst/>
              <a:cxnLst/>
              <a:rect l="l" t="t" r="r" b="b"/>
              <a:pathLst>
                <a:path w="10911956" h="1113790">
                  <a:moveTo>
                    <a:pt x="10359506" y="0"/>
                  </a:moveTo>
                  <a:lnTo>
                    <a:pt x="553720" y="0"/>
                  </a:lnTo>
                  <a:cubicBezTo>
                    <a:pt x="247650" y="0"/>
                    <a:pt x="0" y="247650"/>
                    <a:pt x="0" y="553720"/>
                  </a:cubicBezTo>
                  <a:cubicBezTo>
                    <a:pt x="0" y="859790"/>
                    <a:pt x="247650" y="1107440"/>
                    <a:pt x="553720" y="1107440"/>
                  </a:cubicBezTo>
                  <a:lnTo>
                    <a:pt x="10359506" y="1113790"/>
                  </a:lnTo>
                  <a:lnTo>
                    <a:pt x="10911956" y="558800"/>
                  </a:lnTo>
                  <a:lnTo>
                    <a:pt x="10359506" y="0"/>
                  </a:lnTo>
                  <a:close/>
                </a:path>
              </a:pathLst>
            </a:custGeom>
            <a:solidFill>
              <a:srgbClr val="B64C6A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32" name="Freeform 32"/>
          <p:cNvSpPr/>
          <p:nvPr/>
        </p:nvSpPr>
        <p:spPr>
          <a:xfrm>
            <a:off x="8846266" y="4120531"/>
            <a:ext cx="7842297" cy="3831572"/>
          </a:xfrm>
          <a:custGeom>
            <a:avLst/>
            <a:gdLst/>
            <a:ahLst/>
            <a:cxnLst/>
            <a:rect l="l" t="t" r="r" b="b"/>
            <a:pathLst>
              <a:path w="7842297" h="3831572">
                <a:moveTo>
                  <a:pt x="0" y="0"/>
                </a:moveTo>
                <a:lnTo>
                  <a:pt x="7842297" y="0"/>
                </a:lnTo>
                <a:lnTo>
                  <a:pt x="7842297" y="3831572"/>
                </a:lnTo>
                <a:lnTo>
                  <a:pt x="0" y="383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3" name="TextBox 33"/>
          <p:cNvSpPr txBox="1"/>
          <p:nvPr/>
        </p:nvSpPr>
        <p:spPr>
          <a:xfrm>
            <a:off x="4826003" y="8487218"/>
            <a:ext cx="9242612" cy="86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4"/>
              </a:lnSpc>
            </a:pPr>
            <a:r>
              <a:rPr lang="en-US" sz="2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Thorough extensive </a:t>
            </a:r>
            <a:r>
              <a:rPr lang="en-US" sz="248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energy simulations </a:t>
            </a:r>
            <a:r>
              <a:rPr lang="en-US" sz="2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power demand was numerically </a:t>
            </a:r>
            <a:r>
              <a:rPr lang="en-US" sz="248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verified </a:t>
            </a:r>
            <a:r>
              <a:rPr lang="en-US" sz="2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and </a:t>
            </a:r>
            <a:r>
              <a:rPr lang="en-US" sz="248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satisfied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861798" y="8474875"/>
            <a:ext cx="2072256" cy="422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4"/>
              </a:lnSpc>
            </a:pPr>
            <a:r>
              <a:rPr lang="en-US" sz="2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Key takeaway: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60290" y="1273150"/>
            <a:ext cx="524888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Basic Fit</a:t>
            </a:r>
          </a:p>
        </p:txBody>
      </p:sp>
      <p:grpSp>
        <p:nvGrpSpPr>
          <p:cNvPr id="3" name="Group 3"/>
          <p:cNvGrpSpPr/>
          <p:nvPr/>
        </p:nvGrpSpPr>
        <p:grpSpPr>
          <a:xfrm rot="5400000">
            <a:off x="-8041673" y="1895343"/>
            <a:ext cx="12563870" cy="8773184"/>
            <a:chOff x="0" y="0"/>
            <a:chExt cx="660400" cy="4611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461149"/>
            </a:xfrm>
            <a:custGeom>
              <a:avLst/>
              <a:gdLst/>
              <a:ahLst/>
              <a:cxnLst/>
              <a:rect l="l" t="t" r="r" b="b"/>
              <a:pathLst>
                <a:path w="660400" h="461149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0691"/>
                  </a:cubicBezTo>
                  <a:lnTo>
                    <a:pt x="660400" y="461149"/>
                  </a:lnTo>
                  <a:lnTo>
                    <a:pt x="0" y="461149"/>
                  </a:lnTo>
                  <a:lnTo>
                    <a:pt x="0" y="320795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66675" cap="sq">
              <a:solidFill>
                <a:srgbClr val="BEC8DA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88900"/>
              <a:ext cx="660400" cy="3722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6094" y="18874"/>
            <a:ext cx="18288000" cy="1576719"/>
          </a:xfrm>
          <a:custGeom>
            <a:avLst/>
            <a:gdLst/>
            <a:ahLst/>
            <a:cxnLst/>
            <a:rect l="l" t="t" r="r" b="b"/>
            <a:pathLst>
              <a:path w="18288000" h="1576719">
                <a:moveTo>
                  <a:pt x="0" y="0"/>
                </a:moveTo>
                <a:lnTo>
                  <a:pt x="18288000" y="0"/>
                </a:lnTo>
                <a:lnTo>
                  <a:pt x="18288000" y="1576719"/>
                </a:lnTo>
                <a:lnTo>
                  <a:pt x="0" y="1576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58818" b="-513949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11407280" y="2143041"/>
            <a:ext cx="1558913" cy="5136062"/>
          </a:xfrm>
          <a:custGeom>
            <a:avLst/>
            <a:gdLst/>
            <a:ahLst/>
            <a:cxnLst/>
            <a:rect l="l" t="t" r="r" b="b"/>
            <a:pathLst>
              <a:path w="1558913" h="5136062">
                <a:moveTo>
                  <a:pt x="0" y="0"/>
                </a:moveTo>
                <a:lnTo>
                  <a:pt x="1558913" y="0"/>
                </a:lnTo>
                <a:lnTo>
                  <a:pt x="1558913" y="5136062"/>
                </a:lnTo>
                <a:lnTo>
                  <a:pt x="0" y="513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8" name="Freeform 8"/>
          <p:cNvSpPr/>
          <p:nvPr/>
        </p:nvSpPr>
        <p:spPr>
          <a:xfrm>
            <a:off x="12954668" y="2143041"/>
            <a:ext cx="4061466" cy="5136062"/>
          </a:xfrm>
          <a:custGeom>
            <a:avLst/>
            <a:gdLst/>
            <a:ahLst/>
            <a:cxnLst/>
            <a:rect l="l" t="t" r="r" b="b"/>
            <a:pathLst>
              <a:path w="4061466" h="5136062">
                <a:moveTo>
                  <a:pt x="0" y="0"/>
                </a:moveTo>
                <a:lnTo>
                  <a:pt x="4061466" y="0"/>
                </a:lnTo>
                <a:lnTo>
                  <a:pt x="4061466" y="5136062"/>
                </a:lnTo>
                <a:lnTo>
                  <a:pt x="0" y="51360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Box 9"/>
          <p:cNvSpPr txBox="1"/>
          <p:nvPr/>
        </p:nvSpPr>
        <p:spPr>
          <a:xfrm>
            <a:off x="1028700" y="206986"/>
            <a:ext cx="16218413" cy="1177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 b="1">
                <a:solidFill>
                  <a:srgbClr val="FBFBF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Mechanical Design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440064" y="9191625"/>
            <a:ext cx="457553" cy="580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23107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13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748579" y="6615006"/>
            <a:ext cx="6838385" cy="1193913"/>
            <a:chOff x="0" y="0"/>
            <a:chExt cx="9117847" cy="1591883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591883" cy="1591883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64C6A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5" name="Freeform 15"/>
            <p:cNvSpPr/>
            <p:nvPr/>
          </p:nvSpPr>
          <p:spPr>
            <a:xfrm>
              <a:off x="262793" y="276104"/>
              <a:ext cx="1066298" cy="1039640"/>
            </a:xfrm>
            <a:custGeom>
              <a:avLst/>
              <a:gdLst/>
              <a:ahLst/>
              <a:cxnLst/>
              <a:rect l="l" t="t" r="r" b="b"/>
              <a:pathLst>
                <a:path w="1066298" h="1039640">
                  <a:moveTo>
                    <a:pt x="0" y="0"/>
                  </a:moveTo>
                  <a:lnTo>
                    <a:pt x="1066297" y="0"/>
                  </a:lnTo>
                  <a:lnTo>
                    <a:pt x="1066297" y="1039640"/>
                  </a:lnTo>
                  <a:lnTo>
                    <a:pt x="0" y="1039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36151" y="377275"/>
              <a:ext cx="7081696" cy="858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49"/>
                </a:lnSpc>
                <a:spcBef>
                  <a:spcPct val="0"/>
                </a:spcBef>
              </a:pPr>
              <a:r>
                <a:rPr lang="en-US" sz="3892" b="1">
                  <a:solidFill>
                    <a:srgbClr val="000000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Numerically validated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98162" y="1783653"/>
            <a:ext cx="8445838" cy="1219081"/>
            <a:chOff x="0" y="0"/>
            <a:chExt cx="11261117" cy="1625442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1591883" cy="1591883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A015C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192865" y="109278"/>
              <a:ext cx="1206154" cy="1386384"/>
            </a:xfrm>
            <a:custGeom>
              <a:avLst/>
              <a:gdLst/>
              <a:ahLst/>
              <a:cxnLst/>
              <a:rect l="l" t="t" r="r" b="b"/>
              <a:pathLst>
                <a:path w="1206154" h="1386384">
                  <a:moveTo>
                    <a:pt x="0" y="0"/>
                  </a:moveTo>
                  <a:lnTo>
                    <a:pt x="1206154" y="0"/>
                  </a:lnTo>
                  <a:lnTo>
                    <a:pt x="1206154" y="1386384"/>
                  </a:lnTo>
                  <a:lnTo>
                    <a:pt x="0" y="1386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34040" y="334971"/>
              <a:ext cx="6272590" cy="858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49"/>
                </a:lnSpc>
                <a:spcBef>
                  <a:spcPct val="0"/>
                </a:spcBef>
              </a:pPr>
              <a:r>
                <a:rPr lang="en-US" sz="3892" b="1">
                  <a:solidFill>
                    <a:srgbClr val="000000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Robust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596844" y="1133088"/>
              <a:ext cx="8664273" cy="4923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83855" lvl="1" indent="-241927" algn="l">
                <a:lnSpc>
                  <a:spcPts val="3137"/>
                </a:lnSpc>
                <a:buFont typeface="Arial"/>
                <a:buChar char="•"/>
              </a:pPr>
              <a:r>
                <a:rPr lang="en-US" sz="2241">
                  <a:solidFill>
                    <a:srgbClr val="0E03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Resistant to 3x wind loads experienced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921497" y="4875035"/>
            <a:ext cx="7975876" cy="1788350"/>
            <a:chOff x="0" y="0"/>
            <a:chExt cx="10634501" cy="2384466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1591883" cy="1591883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62C41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8" name="Freeform 28"/>
            <p:cNvSpPr/>
            <p:nvPr/>
          </p:nvSpPr>
          <p:spPr>
            <a:xfrm>
              <a:off x="291295" y="352490"/>
              <a:ext cx="1060731" cy="991784"/>
            </a:xfrm>
            <a:custGeom>
              <a:avLst/>
              <a:gdLst/>
              <a:ahLst/>
              <a:cxnLst/>
              <a:rect l="l" t="t" r="r" b="b"/>
              <a:pathLst>
                <a:path w="1060731" h="991784">
                  <a:moveTo>
                    <a:pt x="0" y="0"/>
                  </a:moveTo>
                  <a:lnTo>
                    <a:pt x="1060732" y="0"/>
                  </a:lnTo>
                  <a:lnTo>
                    <a:pt x="1060732" y="991784"/>
                  </a:lnTo>
                  <a:lnTo>
                    <a:pt x="0" y="991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70228" y="380883"/>
              <a:ext cx="5360618" cy="858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49"/>
                </a:lnSpc>
                <a:spcBef>
                  <a:spcPct val="0"/>
                </a:spcBef>
              </a:pPr>
              <a:r>
                <a:rPr lang="en-US" sz="3892" b="1">
                  <a:solidFill>
                    <a:srgbClr val="000000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Lightweight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70228" y="1371484"/>
              <a:ext cx="8664273" cy="10129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83855" lvl="1" indent="-241927" algn="l">
                <a:lnSpc>
                  <a:spcPts val="3137"/>
                </a:lnSpc>
                <a:buFont typeface="Arial"/>
                <a:buChar char="•"/>
              </a:pPr>
              <a:r>
                <a:rPr lang="en-US" sz="2241">
                  <a:solidFill>
                    <a:srgbClr val="0E03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Commercially available components</a:t>
              </a:r>
            </a:p>
            <a:p>
              <a:pPr marL="483855" lvl="1" indent="-241927" algn="l">
                <a:lnSpc>
                  <a:spcPts val="3137"/>
                </a:lnSpc>
                <a:buFont typeface="Arial"/>
                <a:buChar char="•"/>
              </a:pPr>
              <a:r>
                <a:rPr lang="en-US" sz="2241">
                  <a:solidFill>
                    <a:srgbClr val="0E03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Supported by 5 cm diameter pole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386104" y="3202759"/>
            <a:ext cx="8749521" cy="1272226"/>
            <a:chOff x="0" y="0"/>
            <a:chExt cx="11666028" cy="1696301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1591883" cy="1591883"/>
              <a:chOff x="0" y="0"/>
              <a:chExt cx="812800" cy="812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F0147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291295" y="296342"/>
              <a:ext cx="1009293" cy="999200"/>
            </a:xfrm>
            <a:custGeom>
              <a:avLst/>
              <a:gdLst/>
              <a:ahLst/>
              <a:cxnLst/>
              <a:rect l="l" t="t" r="r" b="b"/>
              <a:pathLst>
                <a:path w="1009293" h="999200">
                  <a:moveTo>
                    <a:pt x="0" y="0"/>
                  </a:moveTo>
                  <a:lnTo>
                    <a:pt x="1009293" y="0"/>
                  </a:lnTo>
                  <a:lnTo>
                    <a:pt x="1009293" y="999200"/>
                  </a:lnTo>
                  <a:lnTo>
                    <a:pt x="0" y="99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970228" y="328442"/>
              <a:ext cx="6009933" cy="858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49"/>
                </a:lnSpc>
                <a:spcBef>
                  <a:spcPct val="0"/>
                </a:spcBef>
              </a:pPr>
              <a:r>
                <a:rPr lang="en-US" sz="3892" b="1">
                  <a:solidFill>
                    <a:srgbClr val="000000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Stable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197791" y="1203947"/>
              <a:ext cx="9468237" cy="4923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83855" lvl="1" indent="-241927" algn="l">
                <a:lnSpc>
                  <a:spcPts val="3137"/>
                </a:lnSpc>
                <a:buFont typeface="Arial"/>
                <a:buChar char="•"/>
              </a:pPr>
              <a:r>
                <a:rPr lang="en-US" sz="2241">
                  <a:solidFill>
                    <a:srgbClr val="0E03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Tensioned guy-wires reducing lateral displacement</a:t>
              </a:r>
            </a:p>
            <a:p>
              <a:pPr marL="483855" lvl="1" indent="-241927" algn="l">
                <a:lnSpc>
                  <a:spcPts val="3137"/>
                </a:lnSpc>
                <a:buFont typeface="Arial"/>
                <a:buChar char="•"/>
              </a:pPr>
              <a:r>
                <a:rPr lang="en-US" sz="2241">
                  <a:solidFill>
                    <a:srgbClr val="0E03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Reduction in acquired images variability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407280" y="7260053"/>
            <a:ext cx="5608854" cy="548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97"/>
              </a:lnSpc>
            </a:pPr>
            <a:r>
              <a:rPr lang="en-US" sz="1641" i="1">
                <a:solidFill>
                  <a:srgbClr val="0E0340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Static monitoring solution’s model (left), displacement representation with scale under 50 m/s winds (right)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-1678136" y="8037895"/>
            <a:ext cx="16860033" cy="1718952"/>
            <a:chOff x="0" y="0"/>
            <a:chExt cx="10911955" cy="111252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911956" cy="1113790"/>
            </a:xfrm>
            <a:custGeom>
              <a:avLst/>
              <a:gdLst/>
              <a:ahLst/>
              <a:cxnLst/>
              <a:rect l="l" t="t" r="r" b="b"/>
              <a:pathLst>
                <a:path w="10911956" h="1113790">
                  <a:moveTo>
                    <a:pt x="10359506" y="0"/>
                  </a:moveTo>
                  <a:lnTo>
                    <a:pt x="553720" y="0"/>
                  </a:lnTo>
                  <a:cubicBezTo>
                    <a:pt x="247650" y="0"/>
                    <a:pt x="0" y="247650"/>
                    <a:pt x="0" y="553720"/>
                  </a:cubicBezTo>
                  <a:cubicBezTo>
                    <a:pt x="0" y="859790"/>
                    <a:pt x="247650" y="1107440"/>
                    <a:pt x="553720" y="1107440"/>
                  </a:cubicBezTo>
                  <a:lnTo>
                    <a:pt x="10359506" y="1113790"/>
                  </a:lnTo>
                  <a:lnTo>
                    <a:pt x="10911956" y="558800"/>
                  </a:lnTo>
                  <a:lnTo>
                    <a:pt x="10359506" y="0"/>
                  </a:lnTo>
                  <a:close/>
                </a:path>
              </a:pathLst>
            </a:custGeom>
            <a:solidFill>
              <a:srgbClr val="B64C6A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3956063" y="8487218"/>
            <a:ext cx="10112552" cy="86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4"/>
              </a:lnSpc>
            </a:pPr>
            <a:r>
              <a:rPr lang="en-US" sz="2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mechanical support has been tested to withstand </a:t>
            </a:r>
            <a:r>
              <a:rPr lang="en-US" sz="248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loads 3×</a:t>
            </a:r>
            <a:r>
              <a:rPr lang="en-US" sz="2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higher than the </a:t>
            </a:r>
            <a:r>
              <a:rPr lang="en-US" sz="248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historical maximum</a:t>
            </a:r>
            <a:r>
              <a:rPr lang="en-US" sz="2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ensuring</a:t>
            </a:r>
            <a:r>
              <a:rPr lang="en-US" sz="248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sufficient camera stability</a:t>
            </a:r>
            <a:r>
              <a:rPr lang="en-US" sz="2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921497" y="8474875"/>
            <a:ext cx="2072256" cy="422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4"/>
              </a:lnSpc>
            </a:pPr>
            <a:r>
              <a:rPr lang="en-US" sz="2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Key takeaway: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6960673" y="1895343"/>
            <a:ext cx="12563870" cy="8773184"/>
            <a:chOff x="0" y="0"/>
            <a:chExt cx="660400" cy="4611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461149"/>
            </a:xfrm>
            <a:custGeom>
              <a:avLst/>
              <a:gdLst/>
              <a:ahLst/>
              <a:cxnLst/>
              <a:rect l="l" t="t" r="r" b="b"/>
              <a:pathLst>
                <a:path w="660400" h="461149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0691"/>
                  </a:cubicBezTo>
                  <a:lnTo>
                    <a:pt x="660400" y="461149"/>
                  </a:lnTo>
                  <a:lnTo>
                    <a:pt x="0" y="461149"/>
                  </a:lnTo>
                  <a:lnTo>
                    <a:pt x="0" y="320795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66675" cap="sq">
              <a:solidFill>
                <a:srgbClr val="BEC8DA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88900"/>
              <a:ext cx="660400" cy="3722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660290" y="1273150"/>
            <a:ext cx="524888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Basic Fit</a:t>
            </a:r>
          </a:p>
        </p:txBody>
      </p:sp>
      <p:sp>
        <p:nvSpPr>
          <p:cNvPr id="6" name="Freeform 6"/>
          <p:cNvSpPr/>
          <p:nvPr/>
        </p:nvSpPr>
        <p:spPr>
          <a:xfrm>
            <a:off x="-6094" y="18874"/>
            <a:ext cx="18288000" cy="1576719"/>
          </a:xfrm>
          <a:custGeom>
            <a:avLst/>
            <a:gdLst/>
            <a:ahLst/>
            <a:cxnLst/>
            <a:rect l="l" t="t" r="r" b="b"/>
            <a:pathLst>
              <a:path w="18288000" h="1576719">
                <a:moveTo>
                  <a:pt x="0" y="0"/>
                </a:moveTo>
                <a:lnTo>
                  <a:pt x="18288000" y="0"/>
                </a:lnTo>
                <a:lnTo>
                  <a:pt x="18288000" y="1576719"/>
                </a:lnTo>
                <a:lnTo>
                  <a:pt x="0" y="1576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58818" b="-513949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7" name="Group 7"/>
          <p:cNvGrpSpPr/>
          <p:nvPr/>
        </p:nvGrpSpPr>
        <p:grpSpPr>
          <a:xfrm>
            <a:off x="1954674" y="1979535"/>
            <a:ext cx="8389288" cy="1593780"/>
            <a:chOff x="0" y="0"/>
            <a:chExt cx="11185717" cy="212504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591883" cy="1591883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A015C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174504" y="292888"/>
              <a:ext cx="1306634" cy="1006108"/>
            </a:xfrm>
            <a:custGeom>
              <a:avLst/>
              <a:gdLst/>
              <a:ahLst/>
              <a:cxnLst/>
              <a:rect l="l" t="t" r="r" b="b"/>
              <a:pathLst>
                <a:path w="1306634" h="1006108">
                  <a:moveTo>
                    <a:pt x="0" y="0"/>
                  </a:moveTo>
                  <a:lnTo>
                    <a:pt x="1306634" y="0"/>
                  </a:lnTo>
                  <a:lnTo>
                    <a:pt x="1306634" y="1006108"/>
                  </a:lnTo>
                  <a:lnTo>
                    <a:pt x="0" y="10061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71503" y="1112058"/>
              <a:ext cx="8664273" cy="10129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83855" lvl="1" indent="-241927" algn="l">
                <a:lnSpc>
                  <a:spcPts val="3137"/>
                </a:lnSpc>
                <a:buFont typeface="Arial"/>
                <a:buChar char="•"/>
              </a:pPr>
              <a:r>
                <a:rPr lang="en-US" sz="2241">
                  <a:solidFill>
                    <a:srgbClr val="0E03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Single image connection and transmission</a:t>
              </a:r>
            </a:p>
            <a:p>
              <a:pPr marL="483855" lvl="1" indent="-241927" algn="l">
                <a:lnSpc>
                  <a:spcPts val="3137"/>
                </a:lnSpc>
                <a:buFont typeface="Arial"/>
                <a:buChar char="•"/>
              </a:pPr>
              <a:r>
                <a:rPr lang="en-US" sz="2241">
                  <a:solidFill>
                    <a:srgbClr val="0E03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Tempestive data retrieval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29212" y="300885"/>
              <a:ext cx="9256505" cy="858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49"/>
                </a:lnSpc>
                <a:spcBef>
                  <a:spcPct val="0"/>
                </a:spcBef>
              </a:pPr>
              <a:r>
                <a:rPr lang="en-US" sz="3892" b="1">
                  <a:solidFill>
                    <a:srgbClr val="000000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Automatic image upload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009050" y="5721297"/>
            <a:ext cx="8373826" cy="1582532"/>
            <a:chOff x="0" y="0"/>
            <a:chExt cx="11165102" cy="2110042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591883" cy="1591883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62C41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8" name="Freeform 18"/>
            <p:cNvSpPr/>
            <p:nvPr/>
          </p:nvSpPr>
          <p:spPr>
            <a:xfrm>
              <a:off x="328747" y="329404"/>
              <a:ext cx="934389" cy="934389"/>
            </a:xfrm>
            <a:custGeom>
              <a:avLst/>
              <a:gdLst/>
              <a:ahLst/>
              <a:cxnLst/>
              <a:rect l="l" t="t" r="r" b="b"/>
              <a:pathLst>
                <a:path w="934389" h="934389">
                  <a:moveTo>
                    <a:pt x="0" y="0"/>
                  </a:moveTo>
                  <a:lnTo>
                    <a:pt x="934389" y="0"/>
                  </a:lnTo>
                  <a:lnTo>
                    <a:pt x="934389" y="934390"/>
                  </a:lnTo>
                  <a:lnTo>
                    <a:pt x="0" y="934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08596" y="329100"/>
              <a:ext cx="9256505" cy="858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49"/>
                </a:lnSpc>
                <a:spcBef>
                  <a:spcPct val="0"/>
                </a:spcBef>
              </a:pPr>
              <a:r>
                <a:rPr lang="en-US" sz="3892" b="1">
                  <a:solidFill>
                    <a:srgbClr val="000000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Automatic data analysis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50565" y="1102269"/>
              <a:ext cx="7290089" cy="10077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83855" lvl="1" indent="-241927" algn="l">
                <a:lnSpc>
                  <a:spcPts val="3137"/>
                </a:lnSpc>
                <a:buFont typeface="Arial"/>
                <a:buChar char="•"/>
              </a:pPr>
              <a:r>
                <a:rPr lang="en-US" sz="2241">
                  <a:solidFill>
                    <a:srgbClr val="0E03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ML pipeline</a:t>
              </a:r>
            </a:p>
            <a:p>
              <a:pPr marL="483855" lvl="1" indent="-241927" algn="l">
                <a:lnSpc>
                  <a:spcPts val="3137"/>
                </a:lnSpc>
                <a:buFont typeface="Arial"/>
                <a:buChar char="•"/>
              </a:pPr>
              <a:r>
                <a:rPr lang="en-US" sz="2241">
                  <a:solidFill>
                    <a:srgbClr val="0E03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Quantitative data extraction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28700" y="206986"/>
            <a:ext cx="16218413" cy="1177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 b="1">
                <a:solidFill>
                  <a:srgbClr val="FBFBF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Remote Communication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451822" y="9191625"/>
            <a:ext cx="434037" cy="580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23107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14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2284735" y="2004661"/>
            <a:ext cx="4339978" cy="5605329"/>
            <a:chOff x="0" y="-56296"/>
            <a:chExt cx="5786637" cy="7473773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-56296"/>
              <a:ext cx="3799344" cy="1015878"/>
              <a:chOff x="0" y="-11076"/>
              <a:chExt cx="747500" cy="19986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747500" cy="188793"/>
              </a:xfrm>
              <a:custGeom>
                <a:avLst/>
                <a:gdLst/>
                <a:ahLst/>
                <a:cxnLst/>
                <a:rect l="l" t="t" r="r" b="b"/>
                <a:pathLst>
                  <a:path w="747500" h="188793">
                    <a:moveTo>
                      <a:pt x="90137" y="0"/>
                    </a:moveTo>
                    <a:lnTo>
                      <a:pt x="657364" y="0"/>
                    </a:lnTo>
                    <a:cubicBezTo>
                      <a:pt x="681270" y="0"/>
                      <a:pt x="704196" y="9497"/>
                      <a:pt x="721100" y="26400"/>
                    </a:cubicBezTo>
                    <a:cubicBezTo>
                      <a:pt x="738004" y="43304"/>
                      <a:pt x="747500" y="66231"/>
                      <a:pt x="747500" y="90137"/>
                    </a:cubicBezTo>
                    <a:lnTo>
                      <a:pt x="747500" y="98656"/>
                    </a:lnTo>
                    <a:cubicBezTo>
                      <a:pt x="747500" y="122562"/>
                      <a:pt x="738004" y="145488"/>
                      <a:pt x="721100" y="162392"/>
                    </a:cubicBezTo>
                    <a:cubicBezTo>
                      <a:pt x="704196" y="179296"/>
                      <a:pt x="681270" y="188793"/>
                      <a:pt x="657364" y="188793"/>
                    </a:cubicBezTo>
                    <a:lnTo>
                      <a:pt x="90137" y="188793"/>
                    </a:lnTo>
                    <a:cubicBezTo>
                      <a:pt x="66231" y="188793"/>
                      <a:pt x="43304" y="179296"/>
                      <a:pt x="26400" y="162392"/>
                    </a:cubicBezTo>
                    <a:cubicBezTo>
                      <a:pt x="9497" y="145488"/>
                      <a:pt x="0" y="122562"/>
                      <a:pt x="0" y="98656"/>
                    </a:cubicBezTo>
                    <a:lnTo>
                      <a:pt x="0" y="90137"/>
                    </a:lnTo>
                    <a:cubicBezTo>
                      <a:pt x="0" y="66231"/>
                      <a:pt x="9497" y="43304"/>
                      <a:pt x="26400" y="26400"/>
                    </a:cubicBezTo>
                    <a:cubicBezTo>
                      <a:pt x="43304" y="9497"/>
                      <a:pt x="66231" y="0"/>
                      <a:pt x="901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11076"/>
                <a:ext cx="747500" cy="1998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spcBef>
                    <a:spcPct val="0"/>
                  </a:spcBef>
                </a:pPr>
                <a:r>
                  <a:rPr lang="en-US" sz="1799" b="1" dirty="0">
                    <a:solidFill>
                      <a:srgbClr val="000000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Tikee4X camera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0" y="3172651"/>
              <a:ext cx="3799344" cy="1015878"/>
              <a:chOff x="0" y="-11076"/>
              <a:chExt cx="747500" cy="199869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747500" cy="188793"/>
              </a:xfrm>
              <a:custGeom>
                <a:avLst/>
                <a:gdLst/>
                <a:ahLst/>
                <a:cxnLst/>
                <a:rect l="l" t="t" r="r" b="b"/>
                <a:pathLst>
                  <a:path w="747500" h="188793">
                    <a:moveTo>
                      <a:pt x="90137" y="0"/>
                    </a:moveTo>
                    <a:lnTo>
                      <a:pt x="657364" y="0"/>
                    </a:lnTo>
                    <a:cubicBezTo>
                      <a:pt x="681270" y="0"/>
                      <a:pt x="704196" y="9497"/>
                      <a:pt x="721100" y="26400"/>
                    </a:cubicBezTo>
                    <a:cubicBezTo>
                      <a:pt x="738004" y="43304"/>
                      <a:pt x="747500" y="66231"/>
                      <a:pt x="747500" y="90137"/>
                    </a:cubicBezTo>
                    <a:lnTo>
                      <a:pt x="747500" y="98656"/>
                    </a:lnTo>
                    <a:cubicBezTo>
                      <a:pt x="747500" y="122562"/>
                      <a:pt x="738004" y="145488"/>
                      <a:pt x="721100" y="162392"/>
                    </a:cubicBezTo>
                    <a:cubicBezTo>
                      <a:pt x="704196" y="179296"/>
                      <a:pt x="681270" y="188793"/>
                      <a:pt x="657364" y="188793"/>
                    </a:cubicBezTo>
                    <a:lnTo>
                      <a:pt x="90137" y="188793"/>
                    </a:lnTo>
                    <a:cubicBezTo>
                      <a:pt x="66231" y="188793"/>
                      <a:pt x="43304" y="179296"/>
                      <a:pt x="26400" y="162392"/>
                    </a:cubicBezTo>
                    <a:cubicBezTo>
                      <a:pt x="9497" y="145488"/>
                      <a:pt x="0" y="122562"/>
                      <a:pt x="0" y="98656"/>
                    </a:cubicBezTo>
                    <a:lnTo>
                      <a:pt x="0" y="90137"/>
                    </a:lnTo>
                    <a:cubicBezTo>
                      <a:pt x="0" y="66231"/>
                      <a:pt x="9497" y="43304"/>
                      <a:pt x="26400" y="26400"/>
                    </a:cubicBezTo>
                    <a:cubicBezTo>
                      <a:pt x="43304" y="9497"/>
                      <a:pt x="66231" y="0"/>
                      <a:pt x="901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11076"/>
                <a:ext cx="747500" cy="1998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spcBef>
                    <a:spcPct val="0"/>
                  </a:spcBef>
                </a:pPr>
                <a:r>
                  <a:rPr lang="en-US" sz="1799" b="1" dirty="0">
                    <a:solidFill>
                      <a:srgbClr val="000000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Cloud server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0" y="6338568"/>
              <a:ext cx="3799344" cy="1078909"/>
              <a:chOff x="0" y="-23477"/>
              <a:chExt cx="747500" cy="21227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747500" cy="188793"/>
              </a:xfrm>
              <a:custGeom>
                <a:avLst/>
                <a:gdLst/>
                <a:ahLst/>
                <a:cxnLst/>
                <a:rect l="l" t="t" r="r" b="b"/>
                <a:pathLst>
                  <a:path w="747500" h="188793">
                    <a:moveTo>
                      <a:pt x="90137" y="0"/>
                    </a:moveTo>
                    <a:lnTo>
                      <a:pt x="657364" y="0"/>
                    </a:lnTo>
                    <a:cubicBezTo>
                      <a:pt x="681270" y="0"/>
                      <a:pt x="704196" y="9497"/>
                      <a:pt x="721100" y="26400"/>
                    </a:cubicBezTo>
                    <a:cubicBezTo>
                      <a:pt x="738004" y="43304"/>
                      <a:pt x="747500" y="66231"/>
                      <a:pt x="747500" y="90137"/>
                    </a:cubicBezTo>
                    <a:lnTo>
                      <a:pt x="747500" y="98656"/>
                    </a:lnTo>
                    <a:cubicBezTo>
                      <a:pt x="747500" y="122562"/>
                      <a:pt x="738004" y="145488"/>
                      <a:pt x="721100" y="162392"/>
                    </a:cubicBezTo>
                    <a:cubicBezTo>
                      <a:pt x="704196" y="179296"/>
                      <a:pt x="681270" y="188793"/>
                      <a:pt x="657364" y="188793"/>
                    </a:cubicBezTo>
                    <a:lnTo>
                      <a:pt x="90137" y="188793"/>
                    </a:lnTo>
                    <a:cubicBezTo>
                      <a:pt x="66231" y="188793"/>
                      <a:pt x="43304" y="179296"/>
                      <a:pt x="26400" y="162392"/>
                    </a:cubicBezTo>
                    <a:cubicBezTo>
                      <a:pt x="9497" y="145488"/>
                      <a:pt x="0" y="122562"/>
                      <a:pt x="0" y="98656"/>
                    </a:cubicBezTo>
                    <a:lnTo>
                      <a:pt x="0" y="90137"/>
                    </a:lnTo>
                    <a:cubicBezTo>
                      <a:pt x="0" y="66231"/>
                      <a:pt x="9497" y="43304"/>
                      <a:pt x="26400" y="26400"/>
                    </a:cubicBezTo>
                    <a:cubicBezTo>
                      <a:pt x="43304" y="9497"/>
                      <a:pt x="66231" y="0"/>
                      <a:pt x="901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23477"/>
                <a:ext cx="747500" cy="2122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spcBef>
                    <a:spcPct val="0"/>
                  </a:spcBef>
                </a:pPr>
                <a:r>
                  <a:rPr lang="en-US" sz="1799" b="1" dirty="0">
                    <a:solidFill>
                      <a:srgbClr val="000000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Research laboratory</a:t>
                </a:r>
              </a:p>
            </p:txBody>
          </p:sp>
        </p:grpSp>
        <p:sp>
          <p:nvSpPr>
            <p:cNvPr id="33" name="Freeform 33"/>
            <p:cNvSpPr/>
            <p:nvPr/>
          </p:nvSpPr>
          <p:spPr>
            <a:xfrm flipH="1">
              <a:off x="1899671" y="959580"/>
              <a:ext cx="60959" cy="2269368"/>
            </a:xfrm>
            <a:custGeom>
              <a:avLst/>
              <a:gdLst/>
              <a:ahLst/>
              <a:cxnLst/>
              <a:rect l="l" t="t" r="r" b="b"/>
              <a:pathLst>
                <a:path h="1134683">
                  <a:moveTo>
                    <a:pt x="0" y="0"/>
                  </a:moveTo>
                  <a:lnTo>
                    <a:pt x="0" y="1134682"/>
                  </a:lnTo>
                </a:path>
              </a:pathLst>
            </a:custGeom>
            <a:ln w="58519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4" name="Freeform 34"/>
            <p:cNvSpPr/>
            <p:nvPr/>
          </p:nvSpPr>
          <p:spPr>
            <a:xfrm flipH="1">
              <a:off x="1899671" y="4188529"/>
              <a:ext cx="60959" cy="2269366"/>
            </a:xfrm>
            <a:custGeom>
              <a:avLst/>
              <a:gdLst/>
              <a:ahLst/>
              <a:cxnLst/>
              <a:rect l="l" t="t" r="r" b="b"/>
              <a:pathLst>
                <a:path h="1134683">
                  <a:moveTo>
                    <a:pt x="0" y="0"/>
                  </a:moveTo>
                  <a:lnTo>
                    <a:pt x="0" y="1134683"/>
                  </a:lnTo>
                </a:path>
              </a:pathLst>
            </a:custGeom>
            <a:ln w="58519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090266" y="1611351"/>
              <a:ext cx="2506449" cy="927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91"/>
                </a:lnSpc>
              </a:pPr>
              <a:r>
                <a:rPr lang="en-US" sz="2065">
                  <a:solidFill>
                    <a:srgbClr val="0E03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LTE communication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090266" y="4840948"/>
              <a:ext cx="3696371" cy="927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91"/>
                </a:lnSpc>
              </a:pPr>
              <a:r>
                <a:rPr lang="en-US" sz="2065">
                  <a:solidFill>
                    <a:srgbClr val="0E03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Internet communication access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815453" y="3842991"/>
            <a:ext cx="8369247" cy="1608630"/>
            <a:chOff x="0" y="0"/>
            <a:chExt cx="11158996" cy="2144840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1591883" cy="1591883"/>
              <a:chOff x="0" y="0"/>
              <a:chExt cx="812800" cy="8128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F0147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41" name="Freeform 41"/>
            <p:cNvSpPr/>
            <p:nvPr/>
          </p:nvSpPr>
          <p:spPr>
            <a:xfrm>
              <a:off x="347868" y="336629"/>
              <a:ext cx="914032" cy="918625"/>
            </a:xfrm>
            <a:custGeom>
              <a:avLst/>
              <a:gdLst/>
              <a:ahLst/>
              <a:cxnLst/>
              <a:rect l="l" t="t" r="r" b="b"/>
              <a:pathLst>
                <a:path w="914032" h="918625">
                  <a:moveTo>
                    <a:pt x="0" y="0"/>
                  </a:moveTo>
                  <a:lnTo>
                    <a:pt x="914032" y="0"/>
                  </a:lnTo>
                  <a:lnTo>
                    <a:pt x="914032" y="918625"/>
                  </a:lnTo>
                  <a:lnTo>
                    <a:pt x="0" y="918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902491" y="320685"/>
              <a:ext cx="9256505" cy="858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49"/>
                </a:lnSpc>
                <a:spcBef>
                  <a:spcPct val="0"/>
                </a:spcBef>
              </a:pPr>
              <a:r>
                <a:rPr lang="en-US" sz="3892" b="1">
                  <a:solidFill>
                    <a:srgbClr val="000000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Remote data availability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198607" y="1131858"/>
              <a:ext cx="8664273" cy="10129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83855" lvl="1" indent="-241927" algn="l">
                <a:lnSpc>
                  <a:spcPts val="3137"/>
                </a:lnSpc>
                <a:buFont typeface="Arial"/>
                <a:buChar char="•"/>
              </a:pPr>
              <a:r>
                <a:rPr lang="en-US" sz="2241">
                  <a:solidFill>
                    <a:srgbClr val="0E03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No routine phisical data retrieval</a:t>
              </a:r>
            </a:p>
            <a:p>
              <a:pPr marL="483855" lvl="1" indent="-241927" algn="l">
                <a:lnSpc>
                  <a:spcPts val="3137"/>
                </a:lnSpc>
                <a:buFont typeface="Arial"/>
                <a:buChar char="•"/>
              </a:pPr>
              <a:r>
                <a:rPr lang="en-US" sz="2241">
                  <a:solidFill>
                    <a:srgbClr val="0E03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Cost reduction and efficiency improvements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-1678136" y="8037895"/>
            <a:ext cx="16860033" cy="1718952"/>
            <a:chOff x="0" y="0"/>
            <a:chExt cx="10911955" cy="11125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911956" cy="1113790"/>
            </a:xfrm>
            <a:custGeom>
              <a:avLst/>
              <a:gdLst/>
              <a:ahLst/>
              <a:cxnLst/>
              <a:rect l="l" t="t" r="r" b="b"/>
              <a:pathLst>
                <a:path w="10911956" h="1113790">
                  <a:moveTo>
                    <a:pt x="10359506" y="0"/>
                  </a:moveTo>
                  <a:lnTo>
                    <a:pt x="553720" y="0"/>
                  </a:lnTo>
                  <a:cubicBezTo>
                    <a:pt x="247650" y="0"/>
                    <a:pt x="0" y="247650"/>
                    <a:pt x="0" y="553720"/>
                  </a:cubicBezTo>
                  <a:cubicBezTo>
                    <a:pt x="0" y="859790"/>
                    <a:pt x="247650" y="1107440"/>
                    <a:pt x="553720" y="1107440"/>
                  </a:cubicBezTo>
                  <a:lnTo>
                    <a:pt x="10359506" y="1113790"/>
                  </a:lnTo>
                  <a:lnTo>
                    <a:pt x="10911956" y="558800"/>
                  </a:lnTo>
                  <a:lnTo>
                    <a:pt x="10359506" y="0"/>
                  </a:lnTo>
                  <a:close/>
                </a:path>
              </a:pathLst>
            </a:custGeom>
            <a:solidFill>
              <a:srgbClr val="B64C6A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3956063" y="8487218"/>
            <a:ext cx="10112552" cy="86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4"/>
              </a:lnSpc>
            </a:pPr>
            <a:r>
              <a:rPr lang="en-US" sz="2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Using a </a:t>
            </a:r>
            <a:r>
              <a:rPr lang="en-US" sz="248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SIM card</a:t>
            </a:r>
            <a:r>
              <a:rPr lang="en-US" sz="2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the monitoring station </a:t>
            </a:r>
            <a:r>
              <a:rPr lang="en-US" sz="248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transmit each image</a:t>
            </a:r>
            <a:r>
              <a:rPr lang="en-US" sz="2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to a </a:t>
            </a:r>
            <a:r>
              <a:rPr lang="en-US" sz="248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remote server</a:t>
            </a:r>
            <a:r>
              <a:rPr lang="en-US" sz="2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through mobile network coverage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231284" y="8474875"/>
            <a:ext cx="2072256" cy="422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4"/>
              </a:lnSpc>
            </a:pPr>
            <a:r>
              <a:rPr lang="en-US" sz="2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Key takeaway: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60290" y="1273150"/>
            <a:ext cx="524888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Basic Fit</a:t>
            </a:r>
          </a:p>
        </p:txBody>
      </p:sp>
      <p:sp>
        <p:nvSpPr>
          <p:cNvPr id="3" name="Freeform 3"/>
          <p:cNvSpPr/>
          <p:nvPr/>
        </p:nvSpPr>
        <p:spPr>
          <a:xfrm>
            <a:off x="-6094" y="18874"/>
            <a:ext cx="18288000" cy="1576719"/>
          </a:xfrm>
          <a:custGeom>
            <a:avLst/>
            <a:gdLst/>
            <a:ahLst/>
            <a:cxnLst/>
            <a:rect l="l" t="t" r="r" b="b"/>
            <a:pathLst>
              <a:path w="18288000" h="1576719">
                <a:moveTo>
                  <a:pt x="0" y="0"/>
                </a:moveTo>
                <a:lnTo>
                  <a:pt x="18288000" y="0"/>
                </a:lnTo>
                <a:lnTo>
                  <a:pt x="18288000" y="1576719"/>
                </a:lnTo>
                <a:lnTo>
                  <a:pt x="0" y="1576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58818" b="-513949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6214611" y="2892738"/>
            <a:ext cx="11227641" cy="2406509"/>
          </a:xfrm>
          <a:custGeom>
            <a:avLst/>
            <a:gdLst/>
            <a:ahLst/>
            <a:cxnLst/>
            <a:rect l="l" t="t" r="r" b="b"/>
            <a:pathLst>
              <a:path w="11227641" h="2406509">
                <a:moveTo>
                  <a:pt x="0" y="0"/>
                </a:moveTo>
                <a:lnTo>
                  <a:pt x="11227641" y="0"/>
                </a:lnTo>
                <a:lnTo>
                  <a:pt x="11227641" y="2406509"/>
                </a:lnTo>
                <a:lnTo>
                  <a:pt x="0" y="24065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2087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TextBox 5"/>
          <p:cNvSpPr txBox="1"/>
          <p:nvPr/>
        </p:nvSpPr>
        <p:spPr>
          <a:xfrm>
            <a:off x="1028700" y="206986"/>
            <a:ext cx="16218413" cy="1177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 b="1">
                <a:solidFill>
                  <a:srgbClr val="FBFBF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Machine Learning Pipeline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442252" y="9191625"/>
            <a:ext cx="455364" cy="580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23107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15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63417" y="2115322"/>
            <a:ext cx="4593302" cy="5772728"/>
            <a:chOff x="0" y="-5"/>
            <a:chExt cx="6124402" cy="769697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-5"/>
              <a:ext cx="3599479" cy="909108"/>
              <a:chOff x="0" y="-1"/>
              <a:chExt cx="747500" cy="18879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47500" cy="188793"/>
              </a:xfrm>
              <a:custGeom>
                <a:avLst/>
                <a:gdLst/>
                <a:ahLst/>
                <a:cxnLst/>
                <a:rect l="l" t="t" r="r" b="b"/>
                <a:pathLst>
                  <a:path w="747500" h="188793">
                    <a:moveTo>
                      <a:pt x="90137" y="0"/>
                    </a:moveTo>
                    <a:lnTo>
                      <a:pt x="657364" y="0"/>
                    </a:lnTo>
                    <a:cubicBezTo>
                      <a:pt x="681270" y="0"/>
                      <a:pt x="704196" y="9497"/>
                      <a:pt x="721100" y="26400"/>
                    </a:cubicBezTo>
                    <a:cubicBezTo>
                      <a:pt x="738004" y="43304"/>
                      <a:pt x="747500" y="66231"/>
                      <a:pt x="747500" y="90137"/>
                    </a:cubicBezTo>
                    <a:lnTo>
                      <a:pt x="747500" y="98656"/>
                    </a:lnTo>
                    <a:cubicBezTo>
                      <a:pt x="747500" y="122562"/>
                      <a:pt x="738004" y="145488"/>
                      <a:pt x="721100" y="162392"/>
                    </a:cubicBezTo>
                    <a:cubicBezTo>
                      <a:pt x="704196" y="179296"/>
                      <a:pt x="681270" y="188793"/>
                      <a:pt x="657364" y="188793"/>
                    </a:cubicBezTo>
                    <a:lnTo>
                      <a:pt x="90137" y="188793"/>
                    </a:lnTo>
                    <a:cubicBezTo>
                      <a:pt x="66231" y="188793"/>
                      <a:pt x="43304" y="179296"/>
                      <a:pt x="26400" y="162392"/>
                    </a:cubicBezTo>
                    <a:cubicBezTo>
                      <a:pt x="9497" y="145488"/>
                      <a:pt x="0" y="122562"/>
                      <a:pt x="0" y="98656"/>
                    </a:cubicBezTo>
                    <a:lnTo>
                      <a:pt x="0" y="90137"/>
                    </a:lnTo>
                    <a:cubicBezTo>
                      <a:pt x="0" y="66231"/>
                      <a:pt x="9497" y="43304"/>
                      <a:pt x="26400" y="26400"/>
                    </a:cubicBezTo>
                    <a:cubicBezTo>
                      <a:pt x="43304" y="9497"/>
                      <a:pt x="66231" y="0"/>
                      <a:pt x="901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1"/>
                <a:ext cx="747500" cy="1887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spcBef>
                    <a:spcPct val="0"/>
                  </a:spcBef>
                </a:pPr>
                <a:r>
                  <a:rPr lang="en-US" sz="1799" b="1" dirty="0">
                    <a:solidFill>
                      <a:srgbClr val="000000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Acquired RGB images</a:t>
                </a: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1459807"/>
              <a:ext cx="3599479" cy="909108"/>
              <a:chOff x="0" y="-1"/>
              <a:chExt cx="747500" cy="18879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747500" cy="188793"/>
              </a:xfrm>
              <a:custGeom>
                <a:avLst/>
                <a:gdLst/>
                <a:ahLst/>
                <a:cxnLst/>
                <a:rect l="l" t="t" r="r" b="b"/>
                <a:pathLst>
                  <a:path w="747500" h="188793">
                    <a:moveTo>
                      <a:pt x="90137" y="0"/>
                    </a:moveTo>
                    <a:lnTo>
                      <a:pt x="657364" y="0"/>
                    </a:lnTo>
                    <a:cubicBezTo>
                      <a:pt x="681270" y="0"/>
                      <a:pt x="704196" y="9497"/>
                      <a:pt x="721100" y="26400"/>
                    </a:cubicBezTo>
                    <a:cubicBezTo>
                      <a:pt x="738004" y="43304"/>
                      <a:pt x="747500" y="66231"/>
                      <a:pt x="747500" y="90137"/>
                    </a:cubicBezTo>
                    <a:lnTo>
                      <a:pt x="747500" y="98656"/>
                    </a:lnTo>
                    <a:cubicBezTo>
                      <a:pt x="747500" y="122562"/>
                      <a:pt x="738004" y="145488"/>
                      <a:pt x="721100" y="162392"/>
                    </a:cubicBezTo>
                    <a:cubicBezTo>
                      <a:pt x="704196" y="179296"/>
                      <a:pt x="681270" y="188793"/>
                      <a:pt x="657364" y="188793"/>
                    </a:cubicBezTo>
                    <a:lnTo>
                      <a:pt x="90137" y="188793"/>
                    </a:lnTo>
                    <a:cubicBezTo>
                      <a:pt x="66231" y="188793"/>
                      <a:pt x="43304" y="179296"/>
                      <a:pt x="26400" y="162392"/>
                    </a:cubicBezTo>
                    <a:cubicBezTo>
                      <a:pt x="9497" y="145488"/>
                      <a:pt x="0" y="122562"/>
                      <a:pt x="0" y="98656"/>
                    </a:cubicBezTo>
                    <a:lnTo>
                      <a:pt x="0" y="90137"/>
                    </a:lnTo>
                    <a:cubicBezTo>
                      <a:pt x="0" y="66231"/>
                      <a:pt x="9497" y="43304"/>
                      <a:pt x="26400" y="26400"/>
                    </a:cubicBezTo>
                    <a:cubicBezTo>
                      <a:pt x="43304" y="9497"/>
                      <a:pt x="66231" y="0"/>
                      <a:pt x="901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1"/>
                <a:ext cx="747500" cy="1887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spcBef>
                    <a:spcPct val="0"/>
                  </a:spcBef>
                </a:pPr>
                <a:r>
                  <a:rPr lang="en-US" sz="1799" b="1" dirty="0">
                    <a:solidFill>
                      <a:srgbClr val="000000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Remote server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0" y="2919620"/>
              <a:ext cx="3599479" cy="909108"/>
              <a:chOff x="0" y="-1"/>
              <a:chExt cx="747500" cy="18879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747500" cy="188793"/>
              </a:xfrm>
              <a:custGeom>
                <a:avLst/>
                <a:gdLst/>
                <a:ahLst/>
                <a:cxnLst/>
                <a:rect l="l" t="t" r="r" b="b"/>
                <a:pathLst>
                  <a:path w="747500" h="188793">
                    <a:moveTo>
                      <a:pt x="90137" y="0"/>
                    </a:moveTo>
                    <a:lnTo>
                      <a:pt x="657364" y="0"/>
                    </a:lnTo>
                    <a:cubicBezTo>
                      <a:pt x="681270" y="0"/>
                      <a:pt x="704196" y="9497"/>
                      <a:pt x="721100" y="26400"/>
                    </a:cubicBezTo>
                    <a:cubicBezTo>
                      <a:pt x="738004" y="43304"/>
                      <a:pt x="747500" y="66231"/>
                      <a:pt x="747500" y="90137"/>
                    </a:cubicBezTo>
                    <a:lnTo>
                      <a:pt x="747500" y="98656"/>
                    </a:lnTo>
                    <a:cubicBezTo>
                      <a:pt x="747500" y="122562"/>
                      <a:pt x="738004" y="145488"/>
                      <a:pt x="721100" y="162392"/>
                    </a:cubicBezTo>
                    <a:cubicBezTo>
                      <a:pt x="704196" y="179296"/>
                      <a:pt x="681270" y="188793"/>
                      <a:pt x="657364" y="188793"/>
                    </a:cubicBezTo>
                    <a:lnTo>
                      <a:pt x="90137" y="188793"/>
                    </a:lnTo>
                    <a:cubicBezTo>
                      <a:pt x="66231" y="188793"/>
                      <a:pt x="43304" y="179296"/>
                      <a:pt x="26400" y="162392"/>
                    </a:cubicBezTo>
                    <a:cubicBezTo>
                      <a:pt x="9497" y="145488"/>
                      <a:pt x="0" y="122562"/>
                      <a:pt x="0" y="98656"/>
                    </a:cubicBezTo>
                    <a:lnTo>
                      <a:pt x="0" y="90137"/>
                    </a:lnTo>
                    <a:cubicBezTo>
                      <a:pt x="0" y="66231"/>
                      <a:pt x="9497" y="43304"/>
                      <a:pt x="26400" y="26400"/>
                    </a:cubicBezTo>
                    <a:cubicBezTo>
                      <a:pt x="43304" y="9497"/>
                      <a:pt x="66231" y="0"/>
                      <a:pt x="901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1"/>
                <a:ext cx="747500" cy="1887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spcBef>
                    <a:spcPct val="0"/>
                  </a:spcBef>
                </a:pPr>
                <a:r>
                  <a:rPr lang="en-US" sz="1799" b="1" dirty="0">
                    <a:solidFill>
                      <a:srgbClr val="000000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DINOv2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0" y="4379432"/>
              <a:ext cx="3599479" cy="909108"/>
              <a:chOff x="0" y="-1"/>
              <a:chExt cx="747500" cy="18879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747500" cy="188793"/>
              </a:xfrm>
              <a:custGeom>
                <a:avLst/>
                <a:gdLst/>
                <a:ahLst/>
                <a:cxnLst/>
                <a:rect l="l" t="t" r="r" b="b"/>
                <a:pathLst>
                  <a:path w="747500" h="188793">
                    <a:moveTo>
                      <a:pt x="90137" y="0"/>
                    </a:moveTo>
                    <a:lnTo>
                      <a:pt x="657364" y="0"/>
                    </a:lnTo>
                    <a:cubicBezTo>
                      <a:pt x="681270" y="0"/>
                      <a:pt x="704196" y="9497"/>
                      <a:pt x="721100" y="26400"/>
                    </a:cubicBezTo>
                    <a:cubicBezTo>
                      <a:pt x="738004" y="43304"/>
                      <a:pt x="747500" y="66231"/>
                      <a:pt x="747500" y="90137"/>
                    </a:cubicBezTo>
                    <a:lnTo>
                      <a:pt x="747500" y="98656"/>
                    </a:lnTo>
                    <a:cubicBezTo>
                      <a:pt x="747500" y="122562"/>
                      <a:pt x="738004" y="145488"/>
                      <a:pt x="721100" y="162392"/>
                    </a:cubicBezTo>
                    <a:cubicBezTo>
                      <a:pt x="704196" y="179296"/>
                      <a:pt x="681270" y="188793"/>
                      <a:pt x="657364" y="188793"/>
                    </a:cubicBezTo>
                    <a:lnTo>
                      <a:pt x="90137" y="188793"/>
                    </a:lnTo>
                    <a:cubicBezTo>
                      <a:pt x="66231" y="188793"/>
                      <a:pt x="43304" y="179296"/>
                      <a:pt x="26400" y="162392"/>
                    </a:cubicBezTo>
                    <a:cubicBezTo>
                      <a:pt x="9497" y="145488"/>
                      <a:pt x="0" y="122562"/>
                      <a:pt x="0" y="98656"/>
                    </a:cubicBezTo>
                    <a:lnTo>
                      <a:pt x="0" y="90137"/>
                    </a:lnTo>
                    <a:cubicBezTo>
                      <a:pt x="0" y="66231"/>
                      <a:pt x="9497" y="43304"/>
                      <a:pt x="26400" y="26400"/>
                    </a:cubicBezTo>
                    <a:cubicBezTo>
                      <a:pt x="43304" y="9497"/>
                      <a:pt x="66231" y="0"/>
                      <a:pt x="901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1"/>
                <a:ext cx="747500" cy="1887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spcBef>
                    <a:spcPct val="0"/>
                  </a:spcBef>
                </a:pPr>
                <a:r>
                  <a:rPr lang="en-US" sz="1799" b="1" dirty="0">
                    <a:solidFill>
                      <a:srgbClr val="000000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Regression model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0" y="5778985"/>
              <a:ext cx="3599479" cy="969367"/>
              <a:chOff x="0" y="-12515"/>
              <a:chExt cx="747500" cy="201308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747500" cy="188793"/>
              </a:xfrm>
              <a:custGeom>
                <a:avLst/>
                <a:gdLst/>
                <a:ahLst/>
                <a:cxnLst/>
                <a:rect l="l" t="t" r="r" b="b"/>
                <a:pathLst>
                  <a:path w="747500" h="188793">
                    <a:moveTo>
                      <a:pt x="90137" y="0"/>
                    </a:moveTo>
                    <a:lnTo>
                      <a:pt x="657364" y="0"/>
                    </a:lnTo>
                    <a:cubicBezTo>
                      <a:pt x="681270" y="0"/>
                      <a:pt x="704196" y="9497"/>
                      <a:pt x="721100" y="26400"/>
                    </a:cubicBezTo>
                    <a:cubicBezTo>
                      <a:pt x="738004" y="43304"/>
                      <a:pt x="747500" y="66231"/>
                      <a:pt x="747500" y="90137"/>
                    </a:cubicBezTo>
                    <a:lnTo>
                      <a:pt x="747500" y="98656"/>
                    </a:lnTo>
                    <a:cubicBezTo>
                      <a:pt x="747500" y="122562"/>
                      <a:pt x="738004" y="145488"/>
                      <a:pt x="721100" y="162392"/>
                    </a:cubicBezTo>
                    <a:cubicBezTo>
                      <a:pt x="704196" y="179296"/>
                      <a:pt x="681270" y="188793"/>
                      <a:pt x="657364" y="188793"/>
                    </a:cubicBezTo>
                    <a:lnTo>
                      <a:pt x="90137" y="188793"/>
                    </a:lnTo>
                    <a:cubicBezTo>
                      <a:pt x="66231" y="188793"/>
                      <a:pt x="43304" y="179296"/>
                      <a:pt x="26400" y="162392"/>
                    </a:cubicBezTo>
                    <a:cubicBezTo>
                      <a:pt x="9497" y="145488"/>
                      <a:pt x="0" y="122562"/>
                      <a:pt x="0" y="98656"/>
                    </a:cubicBezTo>
                    <a:lnTo>
                      <a:pt x="0" y="90137"/>
                    </a:lnTo>
                    <a:cubicBezTo>
                      <a:pt x="0" y="66231"/>
                      <a:pt x="9497" y="43304"/>
                      <a:pt x="26400" y="26400"/>
                    </a:cubicBezTo>
                    <a:cubicBezTo>
                      <a:pt x="43304" y="9497"/>
                      <a:pt x="66231" y="0"/>
                      <a:pt x="901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12515"/>
                <a:ext cx="747500" cy="2013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spcBef>
                    <a:spcPct val="0"/>
                  </a:spcBef>
                </a:pPr>
                <a:r>
                  <a:rPr lang="en-US" sz="1799" b="1" dirty="0">
                    <a:solidFill>
                      <a:srgbClr val="000000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Turbidity estimate</a:t>
                </a:r>
              </a:p>
            </p:txBody>
          </p:sp>
        </p:grpSp>
        <p:sp>
          <p:nvSpPr>
            <p:cNvPr id="23" name="Freeform 23"/>
            <p:cNvSpPr/>
            <p:nvPr/>
          </p:nvSpPr>
          <p:spPr>
            <a:xfrm>
              <a:off x="1738777" y="909101"/>
              <a:ext cx="60959" cy="550712"/>
            </a:xfrm>
            <a:custGeom>
              <a:avLst/>
              <a:gdLst/>
              <a:ahLst/>
              <a:cxnLst/>
              <a:rect l="l" t="t" r="r" b="b"/>
              <a:pathLst>
                <a:path h="275355">
                  <a:moveTo>
                    <a:pt x="0" y="0"/>
                  </a:moveTo>
                  <a:lnTo>
                    <a:pt x="0" y="275354"/>
                  </a:lnTo>
                </a:path>
              </a:pathLst>
            </a:custGeom>
            <a:ln w="33264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1738778" y="2368915"/>
              <a:ext cx="60960" cy="550711"/>
            </a:xfrm>
            <a:custGeom>
              <a:avLst/>
              <a:gdLst/>
              <a:ahLst/>
              <a:cxnLst/>
              <a:rect l="l" t="t" r="r" b="b"/>
              <a:pathLst>
                <a:path h="275355">
                  <a:moveTo>
                    <a:pt x="0" y="0"/>
                  </a:moveTo>
                  <a:lnTo>
                    <a:pt x="0" y="275355"/>
                  </a:lnTo>
                </a:path>
              </a:pathLst>
            </a:custGeom>
            <a:ln w="33264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1738781" y="3828727"/>
              <a:ext cx="60959" cy="550711"/>
            </a:xfrm>
            <a:custGeom>
              <a:avLst/>
              <a:gdLst/>
              <a:ahLst/>
              <a:cxnLst/>
              <a:rect l="l" t="t" r="r" b="b"/>
              <a:pathLst>
                <a:path h="275355">
                  <a:moveTo>
                    <a:pt x="0" y="0"/>
                  </a:moveTo>
                  <a:lnTo>
                    <a:pt x="0" y="275355"/>
                  </a:lnTo>
                </a:path>
              </a:pathLst>
            </a:custGeom>
            <a:ln w="33264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1738777" y="5288540"/>
              <a:ext cx="60963" cy="550709"/>
            </a:xfrm>
            <a:custGeom>
              <a:avLst/>
              <a:gdLst/>
              <a:ahLst/>
              <a:cxnLst/>
              <a:rect l="l" t="t" r="r" b="b"/>
              <a:pathLst>
                <a:path h="275355">
                  <a:moveTo>
                    <a:pt x="0" y="0"/>
                  </a:moveTo>
                  <a:lnTo>
                    <a:pt x="0" y="275355"/>
                  </a:lnTo>
                </a:path>
              </a:pathLst>
            </a:custGeom>
            <a:ln w="33264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1799740" y="6748352"/>
              <a:ext cx="503684" cy="578203"/>
            </a:xfrm>
            <a:custGeom>
              <a:avLst/>
              <a:gdLst/>
              <a:ahLst/>
              <a:cxnLst/>
              <a:rect l="l" t="t" r="r" b="b"/>
              <a:pathLst>
                <a:path w="503684" h="578203">
                  <a:moveTo>
                    <a:pt x="0" y="0"/>
                  </a:moveTo>
                  <a:lnTo>
                    <a:pt x="0" y="326361"/>
                  </a:lnTo>
                  <a:cubicBezTo>
                    <a:pt x="0" y="393154"/>
                    <a:pt x="26533" y="457211"/>
                    <a:pt x="73762" y="504440"/>
                  </a:cubicBezTo>
                  <a:cubicBezTo>
                    <a:pt x="120992" y="551670"/>
                    <a:pt x="185049" y="578203"/>
                    <a:pt x="251842" y="578203"/>
                  </a:cubicBezTo>
                  <a:lnTo>
                    <a:pt x="503684" y="578203"/>
                  </a:lnTo>
                </a:path>
              </a:pathLst>
            </a:custGeom>
            <a:ln w="33264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03424" y="6927572"/>
              <a:ext cx="3820978" cy="7693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72"/>
                </a:lnSpc>
              </a:pPr>
              <a:r>
                <a:rPr lang="en-US" sz="1694">
                  <a:solidFill>
                    <a:srgbClr val="0E03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Suspended sediment related information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15136" y="222311"/>
              <a:ext cx="906946" cy="4263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9"/>
                </a:lnSpc>
              </a:pPr>
              <a:r>
                <a:rPr lang="en-US" sz="1956">
                  <a:solidFill>
                    <a:srgbClr val="0E03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Input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15136" y="6061560"/>
              <a:ext cx="1417434" cy="4263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9"/>
                </a:lnSpc>
              </a:pPr>
              <a:r>
                <a:rPr lang="en-US" sz="1956">
                  <a:solidFill>
                    <a:srgbClr val="0E03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Output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537367" y="6254711"/>
            <a:ext cx="6498205" cy="771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3855" lvl="1" indent="-241927" algn="l">
              <a:lnSpc>
                <a:spcPts val="3137"/>
              </a:lnSpc>
              <a:buFont typeface="Arial"/>
              <a:buChar char="•"/>
            </a:pPr>
            <a:r>
              <a:rPr lang="en-US" sz="2241" dirty="0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93.2% material identification accuracy</a:t>
            </a:r>
          </a:p>
          <a:p>
            <a:pPr marL="483855" lvl="1" indent="-241927" algn="l">
              <a:lnSpc>
                <a:spcPts val="3137"/>
              </a:lnSpc>
              <a:buFont typeface="Arial"/>
              <a:buChar char="•"/>
            </a:pPr>
            <a:r>
              <a:rPr lang="en-US" sz="2241" dirty="0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7% concentration Mean Absolute Error (MAE)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278080" y="5639187"/>
            <a:ext cx="4155168" cy="663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9"/>
              </a:lnSpc>
              <a:spcBef>
                <a:spcPct val="0"/>
              </a:spcBef>
            </a:pPr>
            <a:r>
              <a:rPr lang="en-US" sz="3892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Results: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146586" y="5270672"/>
            <a:ext cx="2295666" cy="305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7"/>
              </a:lnSpc>
            </a:pPr>
            <a:r>
              <a:rPr lang="en-US" sz="18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Laboratory validated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-1678136" y="8037895"/>
            <a:ext cx="16860033" cy="1718952"/>
            <a:chOff x="0" y="0"/>
            <a:chExt cx="10911955" cy="11125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911956" cy="1113790"/>
            </a:xfrm>
            <a:custGeom>
              <a:avLst/>
              <a:gdLst/>
              <a:ahLst/>
              <a:cxnLst/>
              <a:rect l="l" t="t" r="r" b="b"/>
              <a:pathLst>
                <a:path w="10911956" h="1113790">
                  <a:moveTo>
                    <a:pt x="10359506" y="0"/>
                  </a:moveTo>
                  <a:lnTo>
                    <a:pt x="553720" y="0"/>
                  </a:lnTo>
                  <a:cubicBezTo>
                    <a:pt x="247650" y="0"/>
                    <a:pt x="0" y="247650"/>
                    <a:pt x="0" y="553720"/>
                  </a:cubicBezTo>
                  <a:cubicBezTo>
                    <a:pt x="0" y="859790"/>
                    <a:pt x="247650" y="1107440"/>
                    <a:pt x="553720" y="1107440"/>
                  </a:cubicBezTo>
                  <a:lnTo>
                    <a:pt x="10359506" y="1113790"/>
                  </a:lnTo>
                  <a:lnTo>
                    <a:pt x="10911956" y="558800"/>
                  </a:lnTo>
                  <a:lnTo>
                    <a:pt x="10359506" y="0"/>
                  </a:lnTo>
                  <a:close/>
                </a:path>
              </a:pathLst>
            </a:custGeom>
            <a:solidFill>
              <a:srgbClr val="B64C6A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3956063" y="8487218"/>
            <a:ext cx="10112552" cy="86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4"/>
              </a:lnSpc>
            </a:pPr>
            <a:r>
              <a:rPr lang="en-US" sz="2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AI </a:t>
            </a:r>
            <a:r>
              <a:rPr lang="en-US" sz="248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automatically extract</a:t>
            </a:r>
            <a:r>
              <a:rPr lang="en-US" sz="2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48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quantitative information</a:t>
            </a:r>
            <a:r>
              <a:rPr lang="en-US" sz="2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about water turbidity from images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411443" y="8474875"/>
            <a:ext cx="2072256" cy="422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4"/>
              </a:lnSpc>
            </a:pPr>
            <a:r>
              <a:rPr lang="en-US" sz="2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Key takeaway: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8041673" y="1895343"/>
            <a:ext cx="12563870" cy="8773184"/>
            <a:chOff x="0" y="0"/>
            <a:chExt cx="660400" cy="4611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461149"/>
            </a:xfrm>
            <a:custGeom>
              <a:avLst/>
              <a:gdLst/>
              <a:ahLst/>
              <a:cxnLst/>
              <a:rect l="l" t="t" r="r" b="b"/>
              <a:pathLst>
                <a:path w="660400" h="461149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0691"/>
                  </a:cubicBezTo>
                  <a:lnTo>
                    <a:pt x="660400" y="461149"/>
                  </a:lnTo>
                  <a:lnTo>
                    <a:pt x="0" y="461149"/>
                  </a:lnTo>
                  <a:lnTo>
                    <a:pt x="0" y="320795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66675" cap="sq">
              <a:solidFill>
                <a:srgbClr val="BEC8DA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88900"/>
              <a:ext cx="660400" cy="3722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660290" y="1273150"/>
            <a:ext cx="524888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Basic Fit</a:t>
            </a:r>
          </a:p>
        </p:txBody>
      </p:sp>
      <p:sp>
        <p:nvSpPr>
          <p:cNvPr id="6" name="Freeform 6"/>
          <p:cNvSpPr/>
          <p:nvPr/>
        </p:nvSpPr>
        <p:spPr>
          <a:xfrm>
            <a:off x="-6094" y="18874"/>
            <a:ext cx="18288000" cy="1576719"/>
          </a:xfrm>
          <a:custGeom>
            <a:avLst/>
            <a:gdLst/>
            <a:ahLst/>
            <a:cxnLst/>
            <a:rect l="l" t="t" r="r" b="b"/>
            <a:pathLst>
              <a:path w="18288000" h="1576719">
                <a:moveTo>
                  <a:pt x="0" y="0"/>
                </a:moveTo>
                <a:lnTo>
                  <a:pt x="18288000" y="0"/>
                </a:lnTo>
                <a:lnTo>
                  <a:pt x="18288000" y="1576719"/>
                </a:lnTo>
                <a:lnTo>
                  <a:pt x="0" y="1576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58818" b="-513949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12599751" y="1989225"/>
            <a:ext cx="4186988" cy="5582651"/>
          </a:xfrm>
          <a:custGeom>
            <a:avLst/>
            <a:gdLst/>
            <a:ahLst/>
            <a:cxnLst/>
            <a:rect l="l" t="t" r="r" b="b"/>
            <a:pathLst>
              <a:path w="4186988" h="5582651">
                <a:moveTo>
                  <a:pt x="0" y="0"/>
                </a:moveTo>
                <a:lnTo>
                  <a:pt x="4186988" y="0"/>
                </a:lnTo>
                <a:lnTo>
                  <a:pt x="4186988" y="5582651"/>
                </a:lnTo>
                <a:lnTo>
                  <a:pt x="0" y="55826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8" name="Freeform 8"/>
          <p:cNvSpPr/>
          <p:nvPr/>
        </p:nvSpPr>
        <p:spPr>
          <a:xfrm>
            <a:off x="11730309" y="8519977"/>
            <a:ext cx="2667" cy="347848"/>
          </a:xfrm>
          <a:custGeom>
            <a:avLst/>
            <a:gdLst/>
            <a:ahLst/>
            <a:cxnLst/>
            <a:rect l="l" t="t" r="r" b="b"/>
            <a:pathLst>
              <a:path w="2667" h="347848">
                <a:moveTo>
                  <a:pt x="0" y="0"/>
                </a:moveTo>
                <a:lnTo>
                  <a:pt x="0" y="172591"/>
                </a:lnTo>
                <a:cubicBezTo>
                  <a:pt x="0" y="173327"/>
                  <a:pt x="597" y="173924"/>
                  <a:pt x="1334" y="173924"/>
                </a:cubicBezTo>
                <a:lnTo>
                  <a:pt x="1334" y="173924"/>
                </a:lnTo>
                <a:cubicBezTo>
                  <a:pt x="2070" y="173924"/>
                  <a:pt x="2667" y="174521"/>
                  <a:pt x="2667" y="175258"/>
                </a:cubicBezTo>
                <a:lnTo>
                  <a:pt x="2667" y="347848"/>
                </a:lnTo>
              </a:path>
            </a:pathLst>
          </a:cu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grpSp>
        <p:nvGrpSpPr>
          <p:cNvPr id="9" name="Group 9"/>
          <p:cNvGrpSpPr/>
          <p:nvPr/>
        </p:nvGrpSpPr>
        <p:grpSpPr>
          <a:xfrm>
            <a:off x="1987757" y="4953546"/>
            <a:ext cx="7975876" cy="1788350"/>
            <a:chOff x="0" y="0"/>
            <a:chExt cx="10634501" cy="2384466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591883" cy="1591883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62C41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281345" y="265429"/>
              <a:ext cx="1029194" cy="1061025"/>
            </a:xfrm>
            <a:custGeom>
              <a:avLst/>
              <a:gdLst/>
              <a:ahLst/>
              <a:cxnLst/>
              <a:rect l="l" t="t" r="r" b="b"/>
              <a:pathLst>
                <a:path w="1029194" h="1061025">
                  <a:moveTo>
                    <a:pt x="0" y="0"/>
                  </a:moveTo>
                  <a:lnTo>
                    <a:pt x="1029194" y="0"/>
                  </a:lnTo>
                  <a:lnTo>
                    <a:pt x="1029194" y="1061025"/>
                  </a:lnTo>
                  <a:lnTo>
                    <a:pt x="0" y="1061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70228" y="380883"/>
              <a:ext cx="8664273" cy="858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49"/>
                </a:lnSpc>
                <a:spcBef>
                  <a:spcPct val="0"/>
                </a:spcBef>
              </a:pPr>
              <a:r>
                <a:rPr lang="en-US" sz="3892" b="1">
                  <a:solidFill>
                    <a:srgbClr val="000000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Power generation connection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70228" y="1371484"/>
              <a:ext cx="8664273" cy="10129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83855" lvl="1" indent="-241927" algn="l">
                <a:lnSpc>
                  <a:spcPts val="3137"/>
                </a:lnSpc>
                <a:buFont typeface="Arial"/>
                <a:buChar char="•"/>
              </a:pPr>
              <a:r>
                <a:rPr lang="en-US" sz="2241">
                  <a:solidFill>
                    <a:srgbClr val="0E03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Power source and storage connection</a:t>
              </a:r>
            </a:p>
            <a:p>
              <a:pPr marL="483855" lvl="1" indent="-241927" algn="l">
                <a:lnSpc>
                  <a:spcPts val="3137"/>
                </a:lnSpc>
                <a:buFont typeface="Arial"/>
                <a:buChar char="•"/>
              </a:pPr>
              <a:r>
                <a:rPr lang="en-US" sz="2241">
                  <a:solidFill>
                    <a:srgbClr val="0E03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Recharge and devices communication verified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72658" y="3339097"/>
            <a:ext cx="1193913" cy="1193913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0147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637939" y="3577698"/>
            <a:ext cx="863352" cy="651830"/>
          </a:xfrm>
          <a:custGeom>
            <a:avLst/>
            <a:gdLst/>
            <a:ahLst/>
            <a:cxnLst/>
            <a:rect l="l" t="t" r="r" b="b"/>
            <a:pathLst>
              <a:path w="863352" h="651830">
                <a:moveTo>
                  <a:pt x="0" y="0"/>
                </a:moveTo>
                <a:lnTo>
                  <a:pt x="863351" y="0"/>
                </a:lnTo>
                <a:lnTo>
                  <a:pt x="863351" y="651830"/>
                </a:lnTo>
                <a:lnTo>
                  <a:pt x="0" y="6518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0" name="TextBox 20"/>
          <p:cNvSpPr txBox="1"/>
          <p:nvPr/>
        </p:nvSpPr>
        <p:spPr>
          <a:xfrm>
            <a:off x="2950329" y="3566379"/>
            <a:ext cx="8417638" cy="663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9"/>
              </a:lnSpc>
              <a:spcBef>
                <a:spcPct val="0"/>
              </a:spcBef>
            </a:pPr>
            <a:r>
              <a:rPr lang="en-US" sz="3892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Camera installation and configuration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273355" y="4181903"/>
            <a:ext cx="7101178" cy="771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3855" lvl="1" indent="-241927" algn="l">
              <a:lnSpc>
                <a:spcPts val="3137"/>
              </a:lnSpc>
              <a:buFont typeface="Arial"/>
              <a:buChar char="•"/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Lenses placement for site observation</a:t>
            </a:r>
          </a:p>
          <a:p>
            <a:pPr marL="483855" lvl="1" indent="-241927" algn="l">
              <a:lnSpc>
                <a:spcPts val="3137"/>
              </a:lnSpc>
              <a:buFont typeface="Arial"/>
              <a:buChar char="•"/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Camera parameters configuration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987757" y="6741895"/>
            <a:ext cx="7459630" cy="1193913"/>
            <a:chOff x="0" y="0"/>
            <a:chExt cx="9946174" cy="1591883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1591883" cy="1591883"/>
              <a:chOff x="0" y="0"/>
              <a:chExt cx="812800" cy="812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64C6A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6" name="Freeform 26"/>
            <p:cNvSpPr/>
            <p:nvPr/>
          </p:nvSpPr>
          <p:spPr>
            <a:xfrm>
              <a:off x="254077" y="245807"/>
              <a:ext cx="1083730" cy="1100234"/>
            </a:xfrm>
            <a:custGeom>
              <a:avLst/>
              <a:gdLst/>
              <a:ahLst/>
              <a:cxnLst/>
              <a:rect l="l" t="t" r="r" b="b"/>
              <a:pathLst>
                <a:path w="1083730" h="1100234">
                  <a:moveTo>
                    <a:pt x="0" y="0"/>
                  </a:moveTo>
                  <a:lnTo>
                    <a:pt x="1083730" y="0"/>
                  </a:lnTo>
                  <a:lnTo>
                    <a:pt x="1083730" y="1100233"/>
                  </a:lnTo>
                  <a:lnTo>
                    <a:pt x="0" y="1100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036151" y="377275"/>
              <a:ext cx="7910023" cy="858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49"/>
                </a:lnSpc>
                <a:spcBef>
                  <a:spcPct val="0"/>
                </a:spcBef>
              </a:pPr>
              <a:r>
                <a:rPr lang="en-US" sz="3892" b="1">
                  <a:solidFill>
                    <a:srgbClr val="000000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Initial field commissioning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66748" y="1724649"/>
            <a:ext cx="1193913" cy="1193913"/>
            <a:chOff x="0" y="0"/>
            <a:chExt cx="1591883" cy="1591883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1591883" cy="1591883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A015C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2" name="Freeform 32"/>
            <p:cNvSpPr/>
            <p:nvPr/>
          </p:nvSpPr>
          <p:spPr>
            <a:xfrm>
              <a:off x="256953" y="319848"/>
              <a:ext cx="1142380" cy="873921"/>
            </a:xfrm>
            <a:custGeom>
              <a:avLst/>
              <a:gdLst/>
              <a:ahLst/>
              <a:cxnLst/>
              <a:rect l="l" t="t" r="r" b="b"/>
              <a:pathLst>
                <a:path w="1142380" h="873921">
                  <a:moveTo>
                    <a:pt x="0" y="0"/>
                  </a:moveTo>
                  <a:lnTo>
                    <a:pt x="1142380" y="0"/>
                  </a:lnTo>
                  <a:lnTo>
                    <a:pt x="1142380" y="873921"/>
                  </a:lnTo>
                  <a:lnTo>
                    <a:pt x="0" y="873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098151" y="1951931"/>
            <a:ext cx="7865483" cy="663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9"/>
              </a:lnSpc>
              <a:spcBef>
                <a:spcPct val="0"/>
              </a:spcBef>
            </a:pPr>
            <a:r>
              <a:rPr lang="en-US" sz="3892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Subsystem integration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479885" y="2567455"/>
            <a:ext cx="7921467" cy="771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3855" lvl="1" indent="-241927" algn="l">
              <a:lnSpc>
                <a:spcPts val="3137"/>
              </a:lnSpc>
              <a:buFont typeface="Arial"/>
              <a:buChar char="•"/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Mechanical, electrical and imaging ubsystem integration</a:t>
            </a:r>
          </a:p>
          <a:p>
            <a:pPr marL="483855" lvl="1" indent="-241927" algn="l">
              <a:lnSpc>
                <a:spcPts val="3137"/>
              </a:lnSpc>
              <a:buFont typeface="Arial"/>
              <a:buChar char="•"/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On-site installation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28700" y="206986"/>
            <a:ext cx="16218413" cy="1177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 b="1">
                <a:solidFill>
                  <a:srgbClr val="FBFBF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System Integration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7458659" y="9191625"/>
            <a:ext cx="438957" cy="580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23107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16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-1678136" y="8037895"/>
            <a:ext cx="16860033" cy="1718952"/>
            <a:chOff x="0" y="0"/>
            <a:chExt cx="10911955" cy="111252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911956" cy="1113790"/>
            </a:xfrm>
            <a:custGeom>
              <a:avLst/>
              <a:gdLst/>
              <a:ahLst/>
              <a:cxnLst/>
              <a:rect l="l" t="t" r="r" b="b"/>
              <a:pathLst>
                <a:path w="10911956" h="1113790">
                  <a:moveTo>
                    <a:pt x="10359506" y="0"/>
                  </a:moveTo>
                  <a:lnTo>
                    <a:pt x="553720" y="0"/>
                  </a:lnTo>
                  <a:cubicBezTo>
                    <a:pt x="247650" y="0"/>
                    <a:pt x="0" y="247650"/>
                    <a:pt x="0" y="553720"/>
                  </a:cubicBezTo>
                  <a:cubicBezTo>
                    <a:pt x="0" y="859790"/>
                    <a:pt x="247650" y="1107440"/>
                    <a:pt x="553720" y="1107440"/>
                  </a:cubicBezTo>
                  <a:lnTo>
                    <a:pt x="10359506" y="1113790"/>
                  </a:lnTo>
                  <a:lnTo>
                    <a:pt x="10911956" y="558800"/>
                  </a:lnTo>
                  <a:lnTo>
                    <a:pt x="10359506" y="0"/>
                  </a:lnTo>
                  <a:close/>
                </a:path>
              </a:pathLst>
            </a:custGeom>
            <a:solidFill>
              <a:srgbClr val="B64C6A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3956063" y="8487218"/>
            <a:ext cx="10112552" cy="86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4"/>
              </a:lnSpc>
            </a:pPr>
            <a:r>
              <a:rPr lang="en-US" sz="2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After design, development and integration the </a:t>
            </a:r>
            <a:r>
              <a:rPr lang="en-US" sz="248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system </a:t>
            </a:r>
            <a:r>
              <a:rPr lang="en-US" sz="2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can be </a:t>
            </a:r>
            <a:r>
              <a:rPr lang="en-US" sz="248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commissioned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626854" y="8474875"/>
            <a:ext cx="2072256" cy="422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4"/>
              </a:lnSpc>
            </a:pPr>
            <a:r>
              <a:rPr lang="en-US" sz="2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Key takeaway: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60290" y="1273150"/>
            <a:ext cx="524888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Basic Fit</a:t>
            </a:r>
          </a:p>
        </p:txBody>
      </p:sp>
      <p:sp>
        <p:nvSpPr>
          <p:cNvPr id="3" name="Freeform 3"/>
          <p:cNvSpPr/>
          <p:nvPr/>
        </p:nvSpPr>
        <p:spPr>
          <a:xfrm>
            <a:off x="-6094" y="18874"/>
            <a:ext cx="18288000" cy="1576719"/>
          </a:xfrm>
          <a:custGeom>
            <a:avLst/>
            <a:gdLst/>
            <a:ahLst/>
            <a:cxnLst/>
            <a:rect l="l" t="t" r="r" b="b"/>
            <a:pathLst>
              <a:path w="18288000" h="1576719">
                <a:moveTo>
                  <a:pt x="0" y="0"/>
                </a:moveTo>
                <a:lnTo>
                  <a:pt x="18288000" y="0"/>
                </a:lnTo>
                <a:lnTo>
                  <a:pt x="18288000" y="1576719"/>
                </a:lnTo>
                <a:lnTo>
                  <a:pt x="0" y="1576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58818" b="-513949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2121154" y="2645304"/>
            <a:ext cx="4480739" cy="2064318"/>
            <a:chOff x="0" y="-10719"/>
            <a:chExt cx="1083206" cy="49904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83206" cy="488324"/>
            </a:xfrm>
            <a:custGeom>
              <a:avLst/>
              <a:gdLst/>
              <a:ahLst/>
              <a:cxnLst/>
              <a:rect l="l" t="t" r="r" b="b"/>
              <a:pathLst>
                <a:path w="1083206" h="488324">
                  <a:moveTo>
                    <a:pt x="62202" y="0"/>
                  </a:moveTo>
                  <a:lnTo>
                    <a:pt x="1021005" y="0"/>
                  </a:lnTo>
                  <a:cubicBezTo>
                    <a:pt x="1055358" y="0"/>
                    <a:pt x="1083206" y="27849"/>
                    <a:pt x="1083206" y="62202"/>
                  </a:cubicBezTo>
                  <a:lnTo>
                    <a:pt x="1083206" y="426123"/>
                  </a:lnTo>
                  <a:cubicBezTo>
                    <a:pt x="1083206" y="442619"/>
                    <a:pt x="1076653" y="458441"/>
                    <a:pt x="1064988" y="470106"/>
                  </a:cubicBezTo>
                  <a:cubicBezTo>
                    <a:pt x="1053323" y="481771"/>
                    <a:pt x="1037502" y="488324"/>
                    <a:pt x="1021005" y="488324"/>
                  </a:cubicBezTo>
                  <a:lnTo>
                    <a:pt x="62202" y="488324"/>
                  </a:lnTo>
                  <a:cubicBezTo>
                    <a:pt x="27849" y="488324"/>
                    <a:pt x="0" y="460476"/>
                    <a:pt x="0" y="426123"/>
                  </a:cubicBezTo>
                  <a:lnTo>
                    <a:pt x="0" y="62202"/>
                  </a:lnTo>
                  <a:cubicBezTo>
                    <a:pt x="0" y="27849"/>
                    <a:pt x="27849" y="0"/>
                    <a:pt x="62202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0719"/>
              <a:ext cx="1083206" cy="499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599"/>
                </a:lnSpc>
              </a:pPr>
              <a:r>
                <a:rPr lang="en-US" sz="1799" b="1" dirty="0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          Target coverage</a:t>
              </a:r>
            </a:p>
            <a:p>
              <a:pPr algn="l">
                <a:lnSpc>
                  <a:spcPts val="3599"/>
                </a:lnSpc>
              </a:pPr>
              <a:r>
                <a:rPr lang="en-US" sz="1799" b="1" dirty="0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          Target resolution</a:t>
              </a:r>
            </a:p>
            <a:p>
              <a:pPr algn="l">
                <a:lnSpc>
                  <a:spcPts val="3599"/>
                </a:lnSpc>
              </a:pPr>
              <a:r>
                <a:rPr lang="en-US" sz="1799" b="1" dirty="0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          Acquisition configuration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121154" y="6042806"/>
            <a:ext cx="4480739" cy="2064318"/>
            <a:chOff x="0" y="-10719"/>
            <a:chExt cx="1083206" cy="49904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83206" cy="488324"/>
            </a:xfrm>
            <a:custGeom>
              <a:avLst/>
              <a:gdLst/>
              <a:ahLst/>
              <a:cxnLst/>
              <a:rect l="l" t="t" r="r" b="b"/>
              <a:pathLst>
                <a:path w="1083206" h="488324">
                  <a:moveTo>
                    <a:pt x="62202" y="0"/>
                  </a:moveTo>
                  <a:lnTo>
                    <a:pt x="1021005" y="0"/>
                  </a:lnTo>
                  <a:cubicBezTo>
                    <a:pt x="1055358" y="0"/>
                    <a:pt x="1083206" y="27849"/>
                    <a:pt x="1083206" y="62202"/>
                  </a:cubicBezTo>
                  <a:lnTo>
                    <a:pt x="1083206" y="426123"/>
                  </a:lnTo>
                  <a:cubicBezTo>
                    <a:pt x="1083206" y="442619"/>
                    <a:pt x="1076653" y="458441"/>
                    <a:pt x="1064988" y="470106"/>
                  </a:cubicBezTo>
                  <a:cubicBezTo>
                    <a:pt x="1053323" y="481771"/>
                    <a:pt x="1037502" y="488324"/>
                    <a:pt x="1021005" y="488324"/>
                  </a:cubicBezTo>
                  <a:lnTo>
                    <a:pt x="62202" y="488324"/>
                  </a:lnTo>
                  <a:cubicBezTo>
                    <a:pt x="27849" y="488324"/>
                    <a:pt x="0" y="460476"/>
                    <a:pt x="0" y="426123"/>
                  </a:cubicBezTo>
                  <a:lnTo>
                    <a:pt x="0" y="62202"/>
                  </a:lnTo>
                  <a:cubicBezTo>
                    <a:pt x="0" y="27849"/>
                    <a:pt x="27849" y="0"/>
                    <a:pt x="62202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0719"/>
              <a:ext cx="1083206" cy="499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599"/>
                </a:lnSpc>
              </a:pPr>
              <a:r>
                <a:rPr lang="en-US" sz="1799" b="1" dirty="0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          Energy budget</a:t>
              </a:r>
            </a:p>
            <a:p>
              <a:pPr algn="l">
                <a:lnSpc>
                  <a:spcPts val="3599"/>
                </a:lnSpc>
              </a:pPr>
              <a:r>
                <a:rPr lang="en-US" sz="1799" b="1" dirty="0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          PV / storage sizing</a:t>
              </a:r>
            </a:p>
            <a:p>
              <a:pPr algn="l">
                <a:lnSpc>
                  <a:spcPts val="3599"/>
                </a:lnSpc>
              </a:pPr>
              <a:r>
                <a:rPr lang="en-US" sz="1799" b="1" dirty="0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          Autonomous operation design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354798" y="2645300"/>
            <a:ext cx="4480739" cy="2064322"/>
            <a:chOff x="0" y="-10720"/>
            <a:chExt cx="1083206" cy="49904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83206" cy="488324"/>
            </a:xfrm>
            <a:custGeom>
              <a:avLst/>
              <a:gdLst/>
              <a:ahLst/>
              <a:cxnLst/>
              <a:rect l="l" t="t" r="r" b="b"/>
              <a:pathLst>
                <a:path w="1083206" h="488324">
                  <a:moveTo>
                    <a:pt x="62202" y="0"/>
                  </a:moveTo>
                  <a:lnTo>
                    <a:pt x="1021005" y="0"/>
                  </a:lnTo>
                  <a:cubicBezTo>
                    <a:pt x="1055358" y="0"/>
                    <a:pt x="1083206" y="27849"/>
                    <a:pt x="1083206" y="62202"/>
                  </a:cubicBezTo>
                  <a:lnTo>
                    <a:pt x="1083206" y="426123"/>
                  </a:lnTo>
                  <a:cubicBezTo>
                    <a:pt x="1083206" y="442619"/>
                    <a:pt x="1076653" y="458441"/>
                    <a:pt x="1064988" y="470106"/>
                  </a:cubicBezTo>
                  <a:cubicBezTo>
                    <a:pt x="1053323" y="481771"/>
                    <a:pt x="1037502" y="488324"/>
                    <a:pt x="1021005" y="488324"/>
                  </a:cubicBezTo>
                  <a:lnTo>
                    <a:pt x="62202" y="488324"/>
                  </a:lnTo>
                  <a:cubicBezTo>
                    <a:pt x="27849" y="488324"/>
                    <a:pt x="0" y="460476"/>
                    <a:pt x="0" y="426123"/>
                  </a:cubicBezTo>
                  <a:lnTo>
                    <a:pt x="0" y="62202"/>
                  </a:lnTo>
                  <a:cubicBezTo>
                    <a:pt x="0" y="27849"/>
                    <a:pt x="27849" y="0"/>
                    <a:pt x="62202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0720"/>
              <a:ext cx="1083206" cy="499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599"/>
                </a:lnSpc>
              </a:pPr>
              <a:r>
                <a:rPr lang="en-US" sz="1799" b="1" dirty="0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          Static analysis</a:t>
              </a:r>
            </a:p>
            <a:p>
              <a:pPr algn="l">
                <a:lnSpc>
                  <a:spcPts val="3599"/>
                </a:lnSpc>
              </a:pPr>
              <a:r>
                <a:rPr lang="en-US" sz="1799" b="1" dirty="0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          Modal analysis</a:t>
              </a:r>
            </a:p>
            <a:p>
              <a:pPr algn="l">
                <a:lnSpc>
                  <a:spcPts val="3599"/>
                </a:lnSpc>
              </a:pPr>
              <a:r>
                <a:rPr lang="en-US" sz="1799" b="1" dirty="0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          Harmonic response analysis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354798" y="6042802"/>
            <a:ext cx="4480739" cy="2064322"/>
            <a:chOff x="0" y="-10720"/>
            <a:chExt cx="1083206" cy="4990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83206" cy="488324"/>
            </a:xfrm>
            <a:custGeom>
              <a:avLst/>
              <a:gdLst/>
              <a:ahLst/>
              <a:cxnLst/>
              <a:rect l="l" t="t" r="r" b="b"/>
              <a:pathLst>
                <a:path w="1083206" h="488324">
                  <a:moveTo>
                    <a:pt x="62202" y="0"/>
                  </a:moveTo>
                  <a:lnTo>
                    <a:pt x="1021005" y="0"/>
                  </a:lnTo>
                  <a:cubicBezTo>
                    <a:pt x="1055358" y="0"/>
                    <a:pt x="1083206" y="27849"/>
                    <a:pt x="1083206" y="62202"/>
                  </a:cubicBezTo>
                  <a:lnTo>
                    <a:pt x="1083206" y="426123"/>
                  </a:lnTo>
                  <a:cubicBezTo>
                    <a:pt x="1083206" y="442619"/>
                    <a:pt x="1076653" y="458441"/>
                    <a:pt x="1064988" y="470106"/>
                  </a:cubicBezTo>
                  <a:cubicBezTo>
                    <a:pt x="1053323" y="481771"/>
                    <a:pt x="1037502" y="488324"/>
                    <a:pt x="1021005" y="488324"/>
                  </a:cubicBezTo>
                  <a:lnTo>
                    <a:pt x="62202" y="488324"/>
                  </a:lnTo>
                  <a:cubicBezTo>
                    <a:pt x="27849" y="488324"/>
                    <a:pt x="0" y="460476"/>
                    <a:pt x="0" y="426123"/>
                  </a:cubicBezTo>
                  <a:lnTo>
                    <a:pt x="0" y="62202"/>
                  </a:lnTo>
                  <a:cubicBezTo>
                    <a:pt x="0" y="27849"/>
                    <a:pt x="27849" y="0"/>
                    <a:pt x="62202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0720"/>
              <a:ext cx="1083206" cy="499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599"/>
                </a:lnSpc>
              </a:pPr>
              <a:r>
                <a:rPr lang="en-US" sz="1799" b="1" dirty="0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          Laboratory validation</a:t>
              </a:r>
            </a:p>
            <a:p>
              <a:pPr algn="l">
                <a:lnSpc>
                  <a:spcPts val="3599"/>
                </a:lnSpc>
              </a:pPr>
              <a:r>
                <a:rPr lang="en-US" sz="1799" b="1" dirty="0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          Field calibration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2376450" y="3005296"/>
            <a:ext cx="391613" cy="407930"/>
          </a:xfrm>
          <a:custGeom>
            <a:avLst/>
            <a:gdLst/>
            <a:ahLst/>
            <a:cxnLst/>
            <a:rect l="l" t="t" r="r" b="b"/>
            <a:pathLst>
              <a:path w="391613" h="407930">
                <a:moveTo>
                  <a:pt x="0" y="0"/>
                </a:moveTo>
                <a:lnTo>
                  <a:pt x="391613" y="0"/>
                </a:lnTo>
                <a:lnTo>
                  <a:pt x="391613" y="407930"/>
                </a:lnTo>
                <a:lnTo>
                  <a:pt x="0" y="4079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7" name="Freeform 17"/>
          <p:cNvSpPr/>
          <p:nvPr/>
        </p:nvSpPr>
        <p:spPr>
          <a:xfrm>
            <a:off x="2376450" y="3454447"/>
            <a:ext cx="391613" cy="407930"/>
          </a:xfrm>
          <a:custGeom>
            <a:avLst/>
            <a:gdLst/>
            <a:ahLst/>
            <a:cxnLst/>
            <a:rect l="l" t="t" r="r" b="b"/>
            <a:pathLst>
              <a:path w="391613" h="407930">
                <a:moveTo>
                  <a:pt x="0" y="0"/>
                </a:moveTo>
                <a:lnTo>
                  <a:pt x="391613" y="0"/>
                </a:lnTo>
                <a:lnTo>
                  <a:pt x="391613" y="407930"/>
                </a:lnTo>
                <a:lnTo>
                  <a:pt x="0" y="4079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8" name="Freeform 18"/>
          <p:cNvSpPr/>
          <p:nvPr/>
        </p:nvSpPr>
        <p:spPr>
          <a:xfrm>
            <a:off x="2376450" y="3903598"/>
            <a:ext cx="391613" cy="407930"/>
          </a:xfrm>
          <a:custGeom>
            <a:avLst/>
            <a:gdLst/>
            <a:ahLst/>
            <a:cxnLst/>
            <a:rect l="l" t="t" r="r" b="b"/>
            <a:pathLst>
              <a:path w="391613" h="407930">
                <a:moveTo>
                  <a:pt x="0" y="0"/>
                </a:moveTo>
                <a:lnTo>
                  <a:pt x="391613" y="0"/>
                </a:lnTo>
                <a:lnTo>
                  <a:pt x="391613" y="407931"/>
                </a:lnTo>
                <a:lnTo>
                  <a:pt x="0" y="4079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9" name="Freeform 19"/>
          <p:cNvSpPr/>
          <p:nvPr/>
        </p:nvSpPr>
        <p:spPr>
          <a:xfrm>
            <a:off x="2376450" y="6401471"/>
            <a:ext cx="391613" cy="407930"/>
          </a:xfrm>
          <a:custGeom>
            <a:avLst/>
            <a:gdLst/>
            <a:ahLst/>
            <a:cxnLst/>
            <a:rect l="l" t="t" r="r" b="b"/>
            <a:pathLst>
              <a:path w="391613" h="407930">
                <a:moveTo>
                  <a:pt x="0" y="0"/>
                </a:moveTo>
                <a:lnTo>
                  <a:pt x="391613" y="0"/>
                </a:lnTo>
                <a:lnTo>
                  <a:pt x="391613" y="407930"/>
                </a:lnTo>
                <a:lnTo>
                  <a:pt x="0" y="4079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0" name="Freeform 20"/>
          <p:cNvSpPr/>
          <p:nvPr/>
        </p:nvSpPr>
        <p:spPr>
          <a:xfrm>
            <a:off x="2376450" y="6850622"/>
            <a:ext cx="391613" cy="407930"/>
          </a:xfrm>
          <a:custGeom>
            <a:avLst/>
            <a:gdLst/>
            <a:ahLst/>
            <a:cxnLst/>
            <a:rect l="l" t="t" r="r" b="b"/>
            <a:pathLst>
              <a:path w="391613" h="407930">
                <a:moveTo>
                  <a:pt x="0" y="0"/>
                </a:moveTo>
                <a:lnTo>
                  <a:pt x="391613" y="0"/>
                </a:lnTo>
                <a:lnTo>
                  <a:pt x="391613" y="407931"/>
                </a:lnTo>
                <a:lnTo>
                  <a:pt x="0" y="4079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1" name="Freeform 21"/>
          <p:cNvSpPr/>
          <p:nvPr/>
        </p:nvSpPr>
        <p:spPr>
          <a:xfrm>
            <a:off x="2376450" y="7299774"/>
            <a:ext cx="391613" cy="407930"/>
          </a:xfrm>
          <a:custGeom>
            <a:avLst/>
            <a:gdLst/>
            <a:ahLst/>
            <a:cxnLst/>
            <a:rect l="l" t="t" r="r" b="b"/>
            <a:pathLst>
              <a:path w="391613" h="407930">
                <a:moveTo>
                  <a:pt x="0" y="0"/>
                </a:moveTo>
                <a:lnTo>
                  <a:pt x="391613" y="0"/>
                </a:lnTo>
                <a:lnTo>
                  <a:pt x="391613" y="407930"/>
                </a:lnTo>
                <a:lnTo>
                  <a:pt x="0" y="4079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2" name="Freeform 22"/>
          <p:cNvSpPr/>
          <p:nvPr/>
        </p:nvSpPr>
        <p:spPr>
          <a:xfrm>
            <a:off x="11624601" y="3005296"/>
            <a:ext cx="391613" cy="407930"/>
          </a:xfrm>
          <a:custGeom>
            <a:avLst/>
            <a:gdLst/>
            <a:ahLst/>
            <a:cxnLst/>
            <a:rect l="l" t="t" r="r" b="b"/>
            <a:pathLst>
              <a:path w="391613" h="407930">
                <a:moveTo>
                  <a:pt x="0" y="0"/>
                </a:moveTo>
                <a:lnTo>
                  <a:pt x="391613" y="0"/>
                </a:lnTo>
                <a:lnTo>
                  <a:pt x="391613" y="407930"/>
                </a:lnTo>
                <a:lnTo>
                  <a:pt x="0" y="4079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3" name="Freeform 23"/>
          <p:cNvSpPr/>
          <p:nvPr/>
        </p:nvSpPr>
        <p:spPr>
          <a:xfrm>
            <a:off x="11624601" y="3454447"/>
            <a:ext cx="391613" cy="407930"/>
          </a:xfrm>
          <a:custGeom>
            <a:avLst/>
            <a:gdLst/>
            <a:ahLst/>
            <a:cxnLst/>
            <a:rect l="l" t="t" r="r" b="b"/>
            <a:pathLst>
              <a:path w="391613" h="407930">
                <a:moveTo>
                  <a:pt x="0" y="0"/>
                </a:moveTo>
                <a:lnTo>
                  <a:pt x="391613" y="0"/>
                </a:lnTo>
                <a:lnTo>
                  <a:pt x="391613" y="407930"/>
                </a:lnTo>
                <a:lnTo>
                  <a:pt x="0" y="4079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4" name="Freeform 24"/>
          <p:cNvSpPr/>
          <p:nvPr/>
        </p:nvSpPr>
        <p:spPr>
          <a:xfrm>
            <a:off x="11624601" y="3903598"/>
            <a:ext cx="391613" cy="407930"/>
          </a:xfrm>
          <a:custGeom>
            <a:avLst/>
            <a:gdLst/>
            <a:ahLst/>
            <a:cxnLst/>
            <a:rect l="l" t="t" r="r" b="b"/>
            <a:pathLst>
              <a:path w="391613" h="407930">
                <a:moveTo>
                  <a:pt x="0" y="0"/>
                </a:moveTo>
                <a:lnTo>
                  <a:pt x="391613" y="0"/>
                </a:lnTo>
                <a:lnTo>
                  <a:pt x="391613" y="407931"/>
                </a:lnTo>
                <a:lnTo>
                  <a:pt x="0" y="4079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5" name="Freeform 25"/>
          <p:cNvSpPr/>
          <p:nvPr/>
        </p:nvSpPr>
        <p:spPr>
          <a:xfrm>
            <a:off x="11624601" y="6646657"/>
            <a:ext cx="391613" cy="407930"/>
          </a:xfrm>
          <a:custGeom>
            <a:avLst/>
            <a:gdLst/>
            <a:ahLst/>
            <a:cxnLst/>
            <a:rect l="l" t="t" r="r" b="b"/>
            <a:pathLst>
              <a:path w="391613" h="407930">
                <a:moveTo>
                  <a:pt x="0" y="0"/>
                </a:moveTo>
                <a:lnTo>
                  <a:pt x="391613" y="0"/>
                </a:lnTo>
                <a:lnTo>
                  <a:pt x="391613" y="407930"/>
                </a:lnTo>
                <a:lnTo>
                  <a:pt x="0" y="4079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6" name="Freeform 26"/>
          <p:cNvSpPr/>
          <p:nvPr/>
        </p:nvSpPr>
        <p:spPr>
          <a:xfrm>
            <a:off x="11733412" y="7097135"/>
            <a:ext cx="86996" cy="370194"/>
          </a:xfrm>
          <a:custGeom>
            <a:avLst/>
            <a:gdLst/>
            <a:ahLst/>
            <a:cxnLst/>
            <a:rect l="l" t="t" r="r" b="b"/>
            <a:pathLst>
              <a:path w="86996" h="370194">
                <a:moveTo>
                  <a:pt x="0" y="0"/>
                </a:moveTo>
                <a:lnTo>
                  <a:pt x="86996" y="0"/>
                </a:lnTo>
                <a:lnTo>
                  <a:pt x="86996" y="370194"/>
                </a:lnTo>
                <a:lnTo>
                  <a:pt x="0" y="3701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7" name="TextBox 27"/>
          <p:cNvSpPr txBox="1"/>
          <p:nvPr/>
        </p:nvSpPr>
        <p:spPr>
          <a:xfrm>
            <a:off x="1028700" y="206986"/>
            <a:ext cx="16218413" cy="1177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 b="1">
                <a:solidFill>
                  <a:srgbClr val="FBFBF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Validation and Performance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458659" y="9191625"/>
            <a:ext cx="438957" cy="580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23107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17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68683" y="1723420"/>
            <a:ext cx="4155168" cy="663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9"/>
              </a:lnSpc>
              <a:spcBef>
                <a:spcPct val="0"/>
              </a:spcBef>
            </a:pPr>
            <a:r>
              <a:rPr lang="en-US" sz="3892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Optical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68683" y="5119197"/>
            <a:ext cx="4155168" cy="663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9"/>
              </a:lnSpc>
              <a:spcBef>
                <a:spcPct val="0"/>
              </a:spcBef>
            </a:pPr>
            <a:r>
              <a:rPr lang="en-US" sz="3892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Energy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565677" y="1723420"/>
            <a:ext cx="4155168" cy="663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9"/>
              </a:lnSpc>
              <a:spcBef>
                <a:spcPct val="0"/>
              </a:spcBef>
            </a:pPr>
            <a:r>
              <a:rPr lang="en-US" sz="3892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Mechanical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565677" y="5210337"/>
            <a:ext cx="4155168" cy="663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9"/>
              </a:lnSpc>
              <a:spcBef>
                <a:spcPct val="0"/>
              </a:spcBef>
            </a:pPr>
            <a:r>
              <a:rPr lang="en-US" sz="3892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Machine Learning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-1024495" y="8311152"/>
            <a:ext cx="16860033" cy="1718952"/>
            <a:chOff x="0" y="0"/>
            <a:chExt cx="10911955" cy="11125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911956" cy="1113790"/>
            </a:xfrm>
            <a:custGeom>
              <a:avLst/>
              <a:gdLst/>
              <a:ahLst/>
              <a:cxnLst/>
              <a:rect l="l" t="t" r="r" b="b"/>
              <a:pathLst>
                <a:path w="10911956" h="1113790">
                  <a:moveTo>
                    <a:pt x="10359506" y="0"/>
                  </a:moveTo>
                  <a:lnTo>
                    <a:pt x="553720" y="0"/>
                  </a:lnTo>
                  <a:cubicBezTo>
                    <a:pt x="247650" y="0"/>
                    <a:pt x="0" y="247650"/>
                    <a:pt x="0" y="553720"/>
                  </a:cubicBezTo>
                  <a:cubicBezTo>
                    <a:pt x="0" y="859790"/>
                    <a:pt x="247650" y="1107440"/>
                    <a:pt x="553720" y="1107440"/>
                  </a:cubicBezTo>
                  <a:lnTo>
                    <a:pt x="10359506" y="1113790"/>
                  </a:lnTo>
                  <a:lnTo>
                    <a:pt x="10911956" y="558800"/>
                  </a:lnTo>
                  <a:lnTo>
                    <a:pt x="10359506" y="0"/>
                  </a:lnTo>
                  <a:close/>
                </a:path>
              </a:pathLst>
            </a:custGeom>
            <a:solidFill>
              <a:srgbClr val="B64C6A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3699189" y="8742707"/>
            <a:ext cx="11529917" cy="860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15"/>
              </a:lnSpc>
              <a:spcBef>
                <a:spcPct val="0"/>
              </a:spcBef>
            </a:pPr>
            <a:r>
              <a:rPr lang="en-US" sz="251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Th</a:t>
            </a:r>
            <a:r>
              <a:rPr lang="en-US" sz="2511" u="none" strike="noStrik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 integrated </a:t>
            </a:r>
            <a:r>
              <a:rPr lang="en-US" sz="2511" b="1" u="none" strike="noStrik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design satisfies </a:t>
            </a:r>
            <a:r>
              <a:rPr lang="en-US" sz="2511" u="none" strike="noStrik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the defined </a:t>
            </a:r>
            <a:r>
              <a:rPr lang="en-US" sz="2511" b="1" u="none" strike="noStrik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system requirements</a:t>
            </a:r>
            <a:r>
              <a:rPr lang="en-US" sz="2511" u="none" strike="noStrik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while</a:t>
            </a:r>
          </a:p>
          <a:p>
            <a:pPr marL="0" lvl="0" indent="0" algn="l">
              <a:lnSpc>
                <a:spcPts val="3515"/>
              </a:lnSpc>
              <a:spcBef>
                <a:spcPct val="0"/>
              </a:spcBef>
            </a:pPr>
            <a:r>
              <a:rPr lang="en-US" sz="2511" u="none" strike="noStrik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long-term </a:t>
            </a:r>
            <a:r>
              <a:rPr lang="en-US" sz="2511" b="1" u="none" strike="noStrik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field operation</a:t>
            </a:r>
            <a:r>
              <a:rPr lang="en-US" sz="2511" u="none" strike="noStrik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and in-situ ML calibration remain </a:t>
            </a:r>
            <a:r>
              <a:rPr lang="en-US" sz="2511" b="1" u="none" strike="noStrik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to be validated</a:t>
            </a:r>
            <a:r>
              <a:rPr lang="en-US" sz="2511" u="none" strike="noStrik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536128" y="8742707"/>
            <a:ext cx="2072256" cy="422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4"/>
              </a:lnSpc>
            </a:pPr>
            <a:r>
              <a:rPr lang="en-US" sz="2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Key takeaway: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29217" y="3202591"/>
            <a:ext cx="6498205" cy="116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3855" lvl="1" indent="-241927" algn="l">
              <a:lnSpc>
                <a:spcPts val="3137"/>
              </a:lnSpc>
              <a:buFont typeface="Arial"/>
              <a:buChar char="•"/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Fixed 15 minutes acquisition interval</a:t>
            </a:r>
          </a:p>
          <a:p>
            <a:pPr marL="483855" lvl="1" indent="-241927" algn="l">
              <a:lnSpc>
                <a:spcPts val="3137"/>
              </a:lnSpc>
              <a:buFont typeface="Arial"/>
              <a:buChar char="•"/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No sporadic expeditions needed</a:t>
            </a:r>
          </a:p>
          <a:p>
            <a:pPr marL="483855" lvl="1" indent="-241927" algn="l">
              <a:lnSpc>
                <a:spcPts val="3137"/>
              </a:lnSpc>
              <a:buFont typeface="Arial"/>
              <a:buChar char="•"/>
            </a:pPr>
            <a:r>
              <a:rPr lang="en-US" sz="2241">
                <a:solidFill>
                  <a:srgbClr val="0E03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Automatic data retrieval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566151" y="2499130"/>
            <a:ext cx="6942379" cy="663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9"/>
              </a:lnSpc>
              <a:spcBef>
                <a:spcPct val="0"/>
              </a:spcBef>
            </a:pPr>
            <a:r>
              <a:rPr lang="en-US" sz="3892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Continous monitoring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660290" y="1273150"/>
            <a:ext cx="524888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Basic Fit</a:t>
            </a:r>
          </a:p>
        </p:txBody>
      </p:sp>
      <p:grpSp>
        <p:nvGrpSpPr>
          <p:cNvPr id="5" name="Group 5"/>
          <p:cNvGrpSpPr/>
          <p:nvPr/>
        </p:nvGrpSpPr>
        <p:grpSpPr>
          <a:xfrm rot="5400000">
            <a:off x="-8041673" y="1895343"/>
            <a:ext cx="12563870" cy="8773184"/>
            <a:chOff x="0" y="0"/>
            <a:chExt cx="660400" cy="4611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0400" cy="461149"/>
            </a:xfrm>
            <a:custGeom>
              <a:avLst/>
              <a:gdLst/>
              <a:ahLst/>
              <a:cxnLst/>
              <a:rect l="l" t="t" r="r" b="b"/>
              <a:pathLst>
                <a:path w="660400" h="461149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0691"/>
                  </a:cubicBezTo>
                  <a:lnTo>
                    <a:pt x="660400" y="461149"/>
                  </a:lnTo>
                  <a:lnTo>
                    <a:pt x="0" y="461149"/>
                  </a:lnTo>
                  <a:lnTo>
                    <a:pt x="0" y="320795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66675" cap="sq">
              <a:solidFill>
                <a:srgbClr val="BEC8DA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8900"/>
              <a:ext cx="660400" cy="3722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6835" y="2282809"/>
            <a:ext cx="1193913" cy="119391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015C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-6094" y="18874"/>
            <a:ext cx="18288000" cy="1576719"/>
          </a:xfrm>
          <a:custGeom>
            <a:avLst/>
            <a:gdLst/>
            <a:ahLst/>
            <a:cxnLst/>
            <a:rect l="l" t="t" r="r" b="b"/>
            <a:pathLst>
              <a:path w="18288000" h="1576719">
                <a:moveTo>
                  <a:pt x="0" y="0"/>
                </a:moveTo>
                <a:lnTo>
                  <a:pt x="18288000" y="0"/>
                </a:lnTo>
                <a:lnTo>
                  <a:pt x="18288000" y="1576719"/>
                </a:lnTo>
                <a:lnTo>
                  <a:pt x="0" y="1576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58818" b="-513949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2" name="Group 12"/>
          <p:cNvGrpSpPr/>
          <p:nvPr/>
        </p:nvGrpSpPr>
        <p:grpSpPr>
          <a:xfrm>
            <a:off x="-1024495" y="8311152"/>
            <a:ext cx="16860033" cy="1718952"/>
            <a:chOff x="0" y="0"/>
            <a:chExt cx="10911955" cy="1112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11956" cy="1113790"/>
            </a:xfrm>
            <a:custGeom>
              <a:avLst/>
              <a:gdLst/>
              <a:ahLst/>
              <a:cxnLst/>
              <a:rect l="l" t="t" r="r" b="b"/>
              <a:pathLst>
                <a:path w="10911956" h="1113790">
                  <a:moveTo>
                    <a:pt x="10359506" y="0"/>
                  </a:moveTo>
                  <a:lnTo>
                    <a:pt x="553720" y="0"/>
                  </a:lnTo>
                  <a:cubicBezTo>
                    <a:pt x="247650" y="0"/>
                    <a:pt x="0" y="247650"/>
                    <a:pt x="0" y="553720"/>
                  </a:cubicBezTo>
                  <a:cubicBezTo>
                    <a:pt x="0" y="859790"/>
                    <a:pt x="247650" y="1107440"/>
                    <a:pt x="553720" y="1107440"/>
                  </a:cubicBezTo>
                  <a:lnTo>
                    <a:pt x="10359506" y="1113790"/>
                  </a:lnTo>
                  <a:lnTo>
                    <a:pt x="10911956" y="558800"/>
                  </a:lnTo>
                  <a:lnTo>
                    <a:pt x="10359506" y="0"/>
                  </a:lnTo>
                  <a:close/>
                </a:path>
              </a:pathLst>
            </a:custGeom>
            <a:solidFill>
              <a:srgbClr val="B64C6A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4" name="Freeform 14"/>
          <p:cNvSpPr/>
          <p:nvPr/>
        </p:nvSpPr>
        <p:spPr>
          <a:xfrm>
            <a:off x="11741881" y="1995808"/>
            <a:ext cx="4316443" cy="5755258"/>
          </a:xfrm>
          <a:custGeom>
            <a:avLst/>
            <a:gdLst/>
            <a:ahLst/>
            <a:cxnLst/>
            <a:rect l="l" t="t" r="r" b="b"/>
            <a:pathLst>
              <a:path w="4316443" h="5755258">
                <a:moveTo>
                  <a:pt x="0" y="0"/>
                </a:moveTo>
                <a:lnTo>
                  <a:pt x="4316443" y="0"/>
                </a:lnTo>
                <a:lnTo>
                  <a:pt x="4316443" y="5755258"/>
                </a:lnTo>
                <a:lnTo>
                  <a:pt x="0" y="57552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0153" t="-12566" r="-14770" b="-32356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15" name="Freeform 15"/>
          <p:cNvSpPr/>
          <p:nvPr/>
        </p:nvSpPr>
        <p:spPr>
          <a:xfrm>
            <a:off x="1192602" y="2509314"/>
            <a:ext cx="722379" cy="740902"/>
          </a:xfrm>
          <a:custGeom>
            <a:avLst/>
            <a:gdLst/>
            <a:ahLst/>
            <a:cxnLst/>
            <a:rect l="l" t="t" r="r" b="b"/>
            <a:pathLst>
              <a:path w="722379" h="740902">
                <a:moveTo>
                  <a:pt x="0" y="0"/>
                </a:moveTo>
                <a:lnTo>
                  <a:pt x="722379" y="0"/>
                </a:lnTo>
                <a:lnTo>
                  <a:pt x="722379" y="740902"/>
                </a:lnTo>
                <a:lnTo>
                  <a:pt x="0" y="7409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6" name="Group 16"/>
          <p:cNvGrpSpPr/>
          <p:nvPr/>
        </p:nvGrpSpPr>
        <p:grpSpPr>
          <a:xfrm>
            <a:off x="1914981" y="5083313"/>
            <a:ext cx="8624258" cy="2100428"/>
            <a:chOff x="0" y="0"/>
            <a:chExt cx="11499011" cy="280057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1591883" cy="1591883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F0147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269817" y="282970"/>
              <a:ext cx="1052250" cy="1025944"/>
            </a:xfrm>
            <a:custGeom>
              <a:avLst/>
              <a:gdLst/>
              <a:ahLst/>
              <a:cxnLst/>
              <a:rect l="l" t="t" r="r" b="b"/>
              <a:pathLst>
                <a:path w="1052250" h="1025944">
                  <a:moveTo>
                    <a:pt x="0" y="0"/>
                  </a:moveTo>
                  <a:lnTo>
                    <a:pt x="1052250" y="0"/>
                  </a:lnTo>
                  <a:lnTo>
                    <a:pt x="1052250" y="1025944"/>
                  </a:lnTo>
                  <a:lnTo>
                    <a:pt x="0" y="1025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34175" y="317500"/>
              <a:ext cx="9256505" cy="858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49"/>
                </a:lnSpc>
                <a:spcBef>
                  <a:spcPct val="0"/>
                </a:spcBef>
              </a:pPr>
              <a:r>
                <a:rPr lang="en-US" sz="3892" b="1">
                  <a:solidFill>
                    <a:srgbClr val="000000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Reliable data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82248" y="1266960"/>
              <a:ext cx="9216763" cy="15336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83855" lvl="1" indent="-241927" algn="l">
                <a:lnSpc>
                  <a:spcPts val="3137"/>
                </a:lnSpc>
                <a:buFont typeface="Arial"/>
                <a:buChar char="•"/>
              </a:pPr>
              <a:r>
                <a:rPr lang="en-US" sz="2241">
                  <a:solidFill>
                    <a:srgbClr val="0E03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Fixed point of view</a:t>
              </a:r>
            </a:p>
            <a:p>
              <a:pPr marL="483855" lvl="1" indent="-241927" algn="l">
                <a:lnSpc>
                  <a:spcPts val="3137"/>
                </a:lnSpc>
                <a:buFont typeface="Arial"/>
                <a:buChar char="•"/>
              </a:pPr>
              <a:r>
                <a:rPr lang="en-US" sz="2241">
                  <a:solidFill>
                    <a:srgbClr val="0E03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Automatic compensation of illumination</a:t>
              </a:r>
            </a:p>
            <a:p>
              <a:pPr marL="483855" lvl="1" indent="-241927" algn="l">
                <a:lnSpc>
                  <a:spcPts val="3137"/>
                </a:lnSpc>
                <a:buFont typeface="Arial"/>
                <a:buChar char="•"/>
              </a:pPr>
              <a:r>
                <a:rPr lang="en-US" sz="2241">
                  <a:solidFill>
                    <a:srgbClr val="0E03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Consistent data acquisition throughout the year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28700" y="206986"/>
            <a:ext cx="16218413" cy="1177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 b="1">
                <a:solidFill>
                  <a:srgbClr val="FBFBF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Achievements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380168" y="9191625"/>
            <a:ext cx="517448" cy="580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23107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18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787954" y="8742707"/>
            <a:ext cx="11441152" cy="860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15"/>
              </a:lnSpc>
              <a:spcBef>
                <a:spcPct val="0"/>
              </a:spcBef>
            </a:pPr>
            <a:r>
              <a:rPr lang="en-US" sz="2511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SENTINEL</a:t>
            </a:r>
            <a:r>
              <a:rPr lang="en-US" sz="2511" b="1" u="none" strike="noStrik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 establishes a technical foundation for autonomous long-term monitoring of sediment dynamics in glacier-fed Alpine environments.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60290" y="1273150"/>
            <a:ext cx="524888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Basic Fit</a:t>
            </a:r>
          </a:p>
        </p:txBody>
      </p:sp>
      <p:sp>
        <p:nvSpPr>
          <p:cNvPr id="3" name="Freeform 3"/>
          <p:cNvSpPr/>
          <p:nvPr/>
        </p:nvSpPr>
        <p:spPr>
          <a:xfrm>
            <a:off x="-6094" y="18874"/>
            <a:ext cx="18288000" cy="1576719"/>
          </a:xfrm>
          <a:custGeom>
            <a:avLst/>
            <a:gdLst/>
            <a:ahLst/>
            <a:cxnLst/>
            <a:rect l="l" t="t" r="r" b="b"/>
            <a:pathLst>
              <a:path w="18288000" h="1576719">
                <a:moveTo>
                  <a:pt x="0" y="0"/>
                </a:moveTo>
                <a:lnTo>
                  <a:pt x="18288000" y="0"/>
                </a:lnTo>
                <a:lnTo>
                  <a:pt x="18288000" y="1576719"/>
                </a:lnTo>
                <a:lnTo>
                  <a:pt x="0" y="1576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58818" b="-513949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-1024495" y="8311152"/>
            <a:ext cx="16860033" cy="1718952"/>
            <a:chOff x="0" y="0"/>
            <a:chExt cx="10911955" cy="11125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911956" cy="1113790"/>
            </a:xfrm>
            <a:custGeom>
              <a:avLst/>
              <a:gdLst/>
              <a:ahLst/>
              <a:cxnLst/>
              <a:rect l="l" t="t" r="r" b="b"/>
              <a:pathLst>
                <a:path w="10911956" h="1113790">
                  <a:moveTo>
                    <a:pt x="10359506" y="0"/>
                  </a:moveTo>
                  <a:lnTo>
                    <a:pt x="553720" y="0"/>
                  </a:lnTo>
                  <a:cubicBezTo>
                    <a:pt x="247650" y="0"/>
                    <a:pt x="0" y="247650"/>
                    <a:pt x="0" y="553720"/>
                  </a:cubicBezTo>
                  <a:cubicBezTo>
                    <a:pt x="0" y="859790"/>
                    <a:pt x="247650" y="1107440"/>
                    <a:pt x="553720" y="1107440"/>
                  </a:cubicBezTo>
                  <a:lnTo>
                    <a:pt x="10359506" y="1113790"/>
                  </a:lnTo>
                  <a:lnTo>
                    <a:pt x="10911956" y="558800"/>
                  </a:lnTo>
                  <a:lnTo>
                    <a:pt x="10359506" y="0"/>
                  </a:lnTo>
                  <a:close/>
                </a:path>
              </a:pathLst>
            </a:custGeom>
            <a:solidFill>
              <a:srgbClr val="B64C6A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6" name="Freeform 6"/>
          <p:cNvSpPr/>
          <p:nvPr/>
        </p:nvSpPr>
        <p:spPr>
          <a:xfrm>
            <a:off x="9175376" y="3128737"/>
            <a:ext cx="7980048" cy="4488777"/>
          </a:xfrm>
          <a:custGeom>
            <a:avLst/>
            <a:gdLst/>
            <a:ahLst/>
            <a:cxnLst/>
            <a:rect l="l" t="t" r="r" b="b"/>
            <a:pathLst>
              <a:path w="7980048" h="4488777">
                <a:moveTo>
                  <a:pt x="0" y="0"/>
                </a:moveTo>
                <a:lnTo>
                  <a:pt x="7980047" y="0"/>
                </a:lnTo>
                <a:lnTo>
                  <a:pt x="7980047" y="4488777"/>
                </a:lnTo>
                <a:lnTo>
                  <a:pt x="0" y="44887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1028700" y="206986"/>
            <a:ext cx="16218413" cy="1177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 b="1">
                <a:solidFill>
                  <a:srgbClr val="FBFBF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Future Applications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59300" y="9191625"/>
            <a:ext cx="638316" cy="580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23107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19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4933873"/>
            <a:ext cx="6709717" cy="1310966"/>
            <a:chOff x="0" y="0"/>
            <a:chExt cx="8946290" cy="1747955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76200"/>
              <a:ext cx="7425612" cy="858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49"/>
                </a:lnSpc>
                <a:spcBef>
                  <a:spcPct val="0"/>
                </a:spcBef>
              </a:pPr>
              <a:r>
                <a:rPr lang="en-US" sz="3892" b="1">
                  <a:solidFill>
                    <a:srgbClr val="000000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Predictive algorithms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2017" y="734973"/>
              <a:ext cx="8664273" cy="10129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83855" lvl="1" indent="-241927" algn="l">
                <a:lnSpc>
                  <a:spcPts val="3137"/>
                </a:lnSpc>
                <a:buFont typeface="Arial"/>
                <a:buChar char="•"/>
              </a:pPr>
              <a:r>
                <a:rPr lang="en-US" sz="2241">
                  <a:solidFill>
                    <a:srgbClr val="0E03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Solution tested in laboratory conditions</a:t>
              </a:r>
            </a:p>
            <a:p>
              <a:pPr marL="483855" lvl="1" indent="-241927" algn="l">
                <a:lnSpc>
                  <a:spcPts val="3137"/>
                </a:lnSpc>
                <a:buFont typeface="Arial"/>
                <a:buChar char="•"/>
              </a:pPr>
              <a:r>
                <a:rPr lang="en-US" sz="2241">
                  <a:solidFill>
                    <a:srgbClr val="0E03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Field validation required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2773332"/>
            <a:ext cx="8146676" cy="1310966"/>
            <a:chOff x="0" y="0"/>
            <a:chExt cx="10862234" cy="1747955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76200"/>
              <a:ext cx="10862234" cy="858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49"/>
                </a:lnSpc>
                <a:spcBef>
                  <a:spcPct val="0"/>
                </a:spcBef>
              </a:pPr>
              <a:r>
                <a:rPr lang="en-US" sz="3892" b="1">
                  <a:solidFill>
                    <a:srgbClr val="000000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Continuous and diffused monitoring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6044" y="734973"/>
              <a:ext cx="9468237" cy="10129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83855" lvl="1" indent="-241927" algn="l">
                <a:lnSpc>
                  <a:spcPts val="3137"/>
                </a:lnSpc>
                <a:buFont typeface="Arial"/>
                <a:buChar char="•"/>
              </a:pPr>
              <a:r>
                <a:rPr lang="en-US" sz="2241">
                  <a:solidFill>
                    <a:srgbClr val="0E03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Subsystem organizaztion allows adaptation to different environments with small adjustments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625810" y="8497752"/>
            <a:ext cx="11441152" cy="129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15"/>
              </a:lnSpc>
              <a:spcBef>
                <a:spcPct val="0"/>
              </a:spcBef>
            </a:pPr>
            <a:r>
              <a:rPr lang="en-US" sz="2511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The</a:t>
            </a:r>
            <a:r>
              <a:rPr lang="en-US" sz="2511" b="1" u="none" strike="noStrik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 project represents the base for future developments and opens to the pioneering of a new paradigm to acquire insights in climate change and its consequences.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1118136" y="3606178"/>
            <a:ext cx="14599444" cy="2632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84"/>
              </a:lnSpc>
            </a:pPr>
            <a:r>
              <a:rPr lang="en-US" sz="19494" b="1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YOU!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550140" y="6238978"/>
            <a:ext cx="4709160" cy="1266482"/>
            <a:chOff x="0" y="0"/>
            <a:chExt cx="6278880" cy="1688643"/>
          </a:xfrm>
        </p:grpSpPr>
        <p:sp>
          <p:nvSpPr>
            <p:cNvPr id="5" name="Freeform 5" descr="Immagine che contiene testo  Descrizione generata automaticamente"/>
            <p:cNvSpPr/>
            <p:nvPr/>
          </p:nvSpPr>
          <p:spPr>
            <a:xfrm>
              <a:off x="0" y="0"/>
              <a:ext cx="6278880" cy="1688592"/>
            </a:xfrm>
            <a:custGeom>
              <a:avLst/>
              <a:gdLst/>
              <a:ahLst/>
              <a:cxnLst/>
              <a:rect l="l" t="t" r="r" b="b"/>
              <a:pathLst>
                <a:path w="6278880" h="1688592">
                  <a:moveTo>
                    <a:pt x="0" y="0"/>
                  </a:moveTo>
                  <a:lnTo>
                    <a:pt x="6278880" y="0"/>
                  </a:lnTo>
                  <a:lnTo>
                    <a:pt x="6278880" y="1688592"/>
                  </a:lnTo>
                  <a:lnTo>
                    <a:pt x="0" y="1688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5" r="-35" b="-3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18136" y="6200247"/>
            <a:ext cx="3139082" cy="2258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6946" lvl="1" indent="-198473" algn="l">
              <a:lnSpc>
                <a:spcPts val="2573"/>
              </a:lnSpc>
              <a:buFont typeface="Arial"/>
              <a:buChar char="•"/>
            </a:pPr>
            <a:r>
              <a:rPr lang="en-US" sz="1838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Simone Maria Mazzola</a:t>
            </a:r>
          </a:p>
          <a:p>
            <a:pPr marL="396946" lvl="1" indent="-198473" algn="l">
              <a:lnSpc>
                <a:spcPts val="2573"/>
              </a:lnSpc>
              <a:buFont typeface="Arial"/>
              <a:buChar char="•"/>
            </a:pPr>
            <a:r>
              <a:rPr lang="en-US" sz="1838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Paolo Ginefra</a:t>
            </a:r>
          </a:p>
          <a:p>
            <a:pPr marL="396946" lvl="1" indent="-198473" algn="l">
              <a:lnSpc>
                <a:spcPts val="2573"/>
              </a:lnSpc>
              <a:buFont typeface="Arial"/>
              <a:buChar char="•"/>
            </a:pPr>
            <a:r>
              <a:rPr lang="en-US" sz="1838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Matteo Gandini</a:t>
            </a:r>
          </a:p>
          <a:p>
            <a:pPr marL="396946" lvl="1" indent="-198473" algn="l">
              <a:lnSpc>
                <a:spcPts val="2573"/>
              </a:lnSpc>
              <a:buFont typeface="Arial"/>
              <a:buChar char="•"/>
            </a:pPr>
            <a:r>
              <a:rPr lang="en-US" sz="1838" b="1" u="none" strike="noStrike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Jacopo Sampò</a:t>
            </a:r>
          </a:p>
          <a:p>
            <a:pPr marL="396946" lvl="1" indent="-198473" algn="l">
              <a:lnSpc>
                <a:spcPts val="2573"/>
              </a:lnSpc>
              <a:buFont typeface="Arial"/>
              <a:buChar char="•"/>
            </a:pPr>
            <a:r>
              <a:rPr lang="en-US" sz="1838" b="1" u="none" strike="noStrike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Shahd Abdelaziz</a:t>
            </a:r>
          </a:p>
          <a:p>
            <a:pPr marL="396946" lvl="1" indent="-198473" algn="l">
              <a:lnSpc>
                <a:spcPts val="2573"/>
              </a:lnSpc>
              <a:buFont typeface="Arial"/>
              <a:buChar char="•"/>
            </a:pPr>
            <a:r>
              <a:rPr lang="en-US" sz="1838" b="1" u="none" strike="noStrike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Aronne Moltrasio</a:t>
            </a:r>
          </a:p>
          <a:p>
            <a:pPr marL="396946" lvl="1" indent="-198473" algn="l">
              <a:lnSpc>
                <a:spcPts val="2573"/>
              </a:lnSpc>
              <a:buFont typeface="Arial"/>
              <a:buChar char="•"/>
            </a:pPr>
            <a:r>
              <a:rPr lang="en-US" sz="1838" b="1" u="none" strike="noStrike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Nicolò Dalmazzo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90793" y="6848055"/>
            <a:ext cx="3139082" cy="1610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73"/>
              </a:lnSpc>
            </a:pPr>
            <a:r>
              <a:rPr lang="en-US" sz="1838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Professors:</a:t>
            </a:r>
          </a:p>
          <a:p>
            <a:pPr marL="396946" lvl="1" indent="-198473" algn="l">
              <a:lnSpc>
                <a:spcPts val="2573"/>
              </a:lnSpc>
              <a:buFont typeface="Arial"/>
              <a:buChar char="•"/>
            </a:pPr>
            <a:r>
              <a:rPr lang="en-US" sz="1838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Carlo De Michele</a:t>
            </a:r>
          </a:p>
          <a:p>
            <a:pPr marL="396946" lvl="1" indent="-198473" algn="l">
              <a:lnSpc>
                <a:spcPts val="2573"/>
              </a:lnSpc>
              <a:buFont typeface="Arial"/>
              <a:buChar char="•"/>
            </a:pPr>
            <a:r>
              <a:rPr lang="en-US" sz="1838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Alberto bianchi</a:t>
            </a:r>
          </a:p>
          <a:p>
            <a:pPr marL="396946" lvl="1" indent="-198473" algn="l">
              <a:lnSpc>
                <a:spcPts val="2573"/>
              </a:lnSpc>
              <a:buFont typeface="Arial"/>
              <a:buChar char="•"/>
            </a:pPr>
            <a:r>
              <a:rPr lang="en-US" sz="1838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Livio pinto</a:t>
            </a:r>
          </a:p>
          <a:p>
            <a:pPr marL="396946" lvl="1" indent="-198473" algn="l">
              <a:lnSpc>
                <a:spcPts val="2573"/>
              </a:lnSpc>
              <a:buFont typeface="Arial"/>
              <a:buChar char="•"/>
            </a:pPr>
            <a:r>
              <a:rPr lang="en-US" sz="1838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Alberto Cina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2730</Words>
  <Application>Microsoft Office PowerPoint</Application>
  <PresentationFormat>Personalizzato</PresentationFormat>
  <Paragraphs>448</Paragraphs>
  <Slides>20</Slides>
  <Notes>20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33" baseType="lpstr">
      <vt:lpstr>TT Interphases</vt:lpstr>
      <vt:lpstr>Calibri</vt:lpstr>
      <vt:lpstr>Open Sans Bold</vt:lpstr>
      <vt:lpstr>Arial MT Pro Bold</vt:lpstr>
      <vt:lpstr>TT Fors Bold</vt:lpstr>
      <vt:lpstr>TT Chocolates Bold</vt:lpstr>
      <vt:lpstr>TT Hoves</vt:lpstr>
      <vt:lpstr>TT Interphases Italics</vt:lpstr>
      <vt:lpstr>Century Gothic Paneuropean Bold</vt:lpstr>
      <vt:lpstr>Arial</vt:lpstr>
      <vt:lpstr>TT Hoves Bold</vt:lpstr>
      <vt:lpstr>TT Interphases Bold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 project</dc:title>
  <dc:creator>Andrea Gandini</dc:creator>
  <cp:lastModifiedBy>Matteo Gandini</cp:lastModifiedBy>
  <cp:revision>4</cp:revision>
  <dcterms:created xsi:type="dcterms:W3CDTF">2006-08-16T00:00:00Z</dcterms:created>
  <dcterms:modified xsi:type="dcterms:W3CDTF">2026-09-16T16:51:49Z</dcterms:modified>
  <dc:identifier>DAHUi4_PoaE</dc:identifier>
</cp:coreProperties>
</file>